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383625" cy="30275213"/>
  <p:notesSz cx="30275213" cy="213836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C3FF"/>
    <a:srgbClr val="53D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32" autoAdjust="0"/>
    <p:restoredTop sz="94610"/>
  </p:normalViewPr>
  <p:slideViewPr>
    <p:cSldViewPr snapToGrid="0" snapToObjects="1">
      <p:cViewPr>
        <p:scale>
          <a:sx n="25" d="100"/>
          <a:sy n="25" d="100"/>
        </p:scale>
        <p:origin x="3806"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36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ippe.simons@stud.hs-hannover.de"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hyperlink" Target="mailto:mauro.holzki@stud.hs-hannover.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AFD"/>
        </a:solidFill>
        <a:effectLst/>
      </p:bgPr>
    </p:bg>
    <p:spTree>
      <p:nvGrpSpPr>
        <p:cNvPr id="1" name=""/>
        <p:cNvGrpSpPr/>
        <p:nvPr/>
      </p:nvGrpSpPr>
      <p:grpSpPr>
        <a:xfrm>
          <a:off x="0" y="0"/>
          <a:ext cx="0" cy="0"/>
          <a:chOff x="0" y="0"/>
          <a:chExt cx="0" cy="0"/>
        </a:xfrm>
      </p:grpSpPr>
      <p:sp>
        <p:nvSpPr>
          <p:cNvPr id="2" name="Shape 0"/>
          <p:cNvSpPr/>
          <p:nvPr/>
        </p:nvSpPr>
        <p:spPr>
          <a:xfrm>
            <a:off x="822960" y="862150"/>
            <a:ext cx="19738239" cy="3435530"/>
          </a:xfrm>
          <a:prstGeom prst="rect">
            <a:avLst/>
          </a:prstGeom>
          <a:solidFill>
            <a:srgbClr val="19C3FF"/>
          </a:solidFill>
          <a:ln/>
        </p:spPr>
        <p:txBody>
          <a:bodyPr/>
          <a:lstStyle/>
          <a:p>
            <a:endParaRPr lang="de-DE" noProof="0" dirty="0"/>
          </a:p>
        </p:txBody>
      </p:sp>
      <p:sp>
        <p:nvSpPr>
          <p:cNvPr id="7" name="Text 5"/>
          <p:cNvSpPr txBox="1"/>
          <p:nvPr/>
        </p:nvSpPr>
        <p:spPr>
          <a:xfrm>
            <a:off x="4572000" y="1280160"/>
            <a:ext cx="12880238" cy="1554480"/>
          </a:xfrm>
          <a:prstGeom prst="rect">
            <a:avLst/>
          </a:prstGeom>
          <a:noFill/>
          <a:ln/>
        </p:spPr>
        <p:txBody>
          <a:bodyPr wrap="square" lIns="0" tIns="0" rIns="0" bIns="0" rtlCol="0" anchor="t"/>
          <a:lstStyle/>
          <a:p>
            <a:pPr marL="0" indent="0" algn="l">
              <a:lnSpc>
                <a:spcPct val="102000"/>
              </a:lnSpc>
              <a:buNone/>
            </a:pPr>
            <a:r>
              <a:rPr lang="de-DE" sz="4400" b="1" noProof="0" dirty="0">
                <a:solidFill>
                  <a:srgbClr val="FFFFFF"/>
                </a:solidFill>
                <a:latin typeface="Arial" panose="020B0604020202020204" pitchFamily="34" charset="0"/>
                <a:ea typeface="Cambria" pitchFamily="34" charset="-122"/>
                <a:cs typeface="Arial" panose="020B0604020202020204" pitchFamily="34" charset="0"/>
              </a:rPr>
              <a:t>Belegungserkennung von Lernecken mit Infrarotsensor und Live-Auslastung</a:t>
            </a:r>
          </a:p>
        </p:txBody>
      </p:sp>
      <p:sp>
        <p:nvSpPr>
          <p:cNvPr id="8" name="Text 6"/>
          <p:cNvSpPr txBox="1"/>
          <p:nvPr/>
        </p:nvSpPr>
        <p:spPr>
          <a:xfrm>
            <a:off x="4572000" y="2679192"/>
            <a:ext cx="12880238" cy="502920"/>
          </a:xfrm>
          <a:prstGeom prst="rect">
            <a:avLst/>
          </a:prstGeom>
          <a:noFill/>
          <a:ln/>
        </p:spPr>
        <p:txBody>
          <a:bodyPr wrap="square" lIns="0" tIns="0" rIns="0" bIns="0" rtlCol="0" anchor="t"/>
          <a:lstStyle/>
          <a:p>
            <a:pPr marL="0" indent="0" algn="l">
              <a:buNone/>
            </a:pPr>
            <a:r>
              <a:rPr lang="de-DE" sz="2400" b="1" noProof="0" dirty="0">
                <a:solidFill>
                  <a:schemeClr val="bg1"/>
                </a:solidFill>
                <a:latin typeface="Arial" panose="020B0604020202020204" pitchFamily="34" charset="0"/>
                <a:ea typeface="Calibri" pitchFamily="34" charset="-122"/>
                <a:cs typeface="Arial" panose="020B0604020202020204" pitchFamily="34" charset="0"/>
              </a:rPr>
              <a:t>Freie Lernplätze in Echtzeit am Standort Linden-Fischerhof</a:t>
            </a:r>
            <a:endParaRPr lang="de-DE" sz="2400" noProof="0" dirty="0">
              <a:solidFill>
                <a:schemeClr val="bg1"/>
              </a:solidFill>
              <a:latin typeface="Arial" panose="020B0604020202020204" pitchFamily="34" charset="0"/>
              <a:cs typeface="Arial" panose="020B0604020202020204" pitchFamily="34" charset="0"/>
            </a:endParaRPr>
          </a:p>
        </p:txBody>
      </p:sp>
      <p:sp>
        <p:nvSpPr>
          <p:cNvPr id="9" name="Text 7"/>
          <p:cNvSpPr txBox="1"/>
          <p:nvPr/>
        </p:nvSpPr>
        <p:spPr>
          <a:xfrm>
            <a:off x="4572000" y="3395333"/>
            <a:ext cx="12975771" cy="448056"/>
          </a:xfrm>
          <a:prstGeom prst="rect">
            <a:avLst/>
          </a:prstGeom>
          <a:noFill/>
          <a:ln/>
        </p:spPr>
        <p:txBody>
          <a:bodyPr wrap="square" lIns="0" tIns="0" rIns="0" bIns="0" rtlCol="0" anchor="t"/>
          <a:lstStyle/>
          <a:p>
            <a:pPr>
              <a:lnSpc>
                <a:spcPct val="150000"/>
              </a:lnSpc>
            </a:pPr>
            <a:r>
              <a:rPr lang="de-DE" noProof="0" dirty="0">
                <a:solidFill>
                  <a:schemeClr val="bg1"/>
                </a:solidFill>
                <a:latin typeface="Arial" panose="020B0604020202020204" pitchFamily="34" charset="0"/>
                <a:ea typeface="Calibri" pitchFamily="34" charset="-122"/>
                <a:cs typeface="Arial" panose="020B0604020202020204" pitchFamily="34" charset="0"/>
              </a:rPr>
              <a:t>Philippe Simons, Mauro </a:t>
            </a:r>
            <a:r>
              <a:rPr lang="de-DE" noProof="0" dirty="0" err="1">
                <a:solidFill>
                  <a:schemeClr val="bg1"/>
                </a:solidFill>
                <a:latin typeface="Arial" panose="020B0604020202020204" pitchFamily="34" charset="0"/>
                <a:ea typeface="Calibri" pitchFamily="34" charset="-122"/>
                <a:cs typeface="Arial" panose="020B0604020202020204" pitchFamily="34" charset="0"/>
              </a:rPr>
              <a:t>Holzki</a:t>
            </a:r>
            <a:r>
              <a:rPr lang="de-DE" noProof="0" dirty="0">
                <a:solidFill>
                  <a:schemeClr val="bg1"/>
                </a:solidFill>
                <a:latin typeface="Arial" panose="020B0604020202020204" pitchFamily="34" charset="0"/>
                <a:ea typeface="Calibri" pitchFamily="34" charset="-122"/>
                <a:cs typeface="Arial" panose="020B0604020202020204" pitchFamily="34" charset="0"/>
              </a:rPr>
              <a:t>.      Studienprojekt / Betreuung: Jens Christian Will.      Sommersemester 2026</a:t>
            </a:r>
            <a:endParaRPr lang="de-DE" noProof="0" dirty="0">
              <a:latin typeface="Arial" panose="020B0604020202020204" pitchFamily="34" charset="0"/>
              <a:cs typeface="Arial" panose="020B0604020202020204" pitchFamily="34" charset="0"/>
            </a:endParaRPr>
          </a:p>
          <a:p>
            <a:pPr marL="0" indent="0" algn="l">
              <a:lnSpc>
                <a:spcPct val="150000"/>
              </a:lnSpc>
              <a:buNone/>
            </a:pPr>
            <a:endParaRPr lang="de-DE" sz="1600" noProof="0" dirty="0">
              <a:solidFill>
                <a:schemeClr val="bg1"/>
              </a:solidFill>
            </a:endParaRPr>
          </a:p>
        </p:txBody>
      </p:sp>
      <p:sp>
        <p:nvSpPr>
          <p:cNvPr id="10" name="Shape 8"/>
          <p:cNvSpPr/>
          <p:nvPr/>
        </p:nvSpPr>
        <p:spPr>
          <a:xfrm>
            <a:off x="17909438" y="1371600"/>
            <a:ext cx="2148840" cy="2148840"/>
          </a:xfrm>
          <a:prstGeom prst="roundRect">
            <a:avLst>
              <a:gd name="adj" fmla="val 4255"/>
            </a:avLst>
          </a:prstGeom>
          <a:solidFill>
            <a:srgbClr val="FFFFFF"/>
          </a:solidFill>
          <a:ln w="19050">
            <a:solidFill>
              <a:srgbClr val="29B6E6"/>
            </a:solidFill>
            <a:prstDash val="solid"/>
          </a:ln>
        </p:spPr>
        <p:txBody>
          <a:bodyPr/>
          <a:lstStyle/>
          <a:p>
            <a:endParaRPr lang="de-DE" noProof="0" dirty="0"/>
          </a:p>
        </p:txBody>
      </p:sp>
      <p:sp>
        <p:nvSpPr>
          <p:cNvPr id="11" name="Text 9"/>
          <p:cNvSpPr txBox="1"/>
          <p:nvPr/>
        </p:nvSpPr>
        <p:spPr>
          <a:xfrm>
            <a:off x="17909438" y="1463040"/>
            <a:ext cx="2148840" cy="2148840"/>
          </a:xfrm>
          <a:prstGeom prst="rect">
            <a:avLst/>
          </a:prstGeom>
          <a:noFill/>
          <a:ln/>
        </p:spPr>
        <p:txBody>
          <a:bodyPr wrap="square" lIns="0" tIns="0" rIns="0" bIns="0" rtlCol="0" anchor="ctr"/>
          <a:lstStyle/>
          <a:p>
            <a:pPr marL="0" indent="0" algn="ctr">
              <a:buNone/>
            </a:pPr>
            <a:endParaRPr lang="de-DE" sz="1400" noProof="0" dirty="0"/>
          </a:p>
        </p:txBody>
      </p:sp>
      <p:sp>
        <p:nvSpPr>
          <p:cNvPr id="12" name="Shape 10"/>
          <p:cNvSpPr/>
          <p:nvPr/>
        </p:nvSpPr>
        <p:spPr>
          <a:xfrm>
            <a:off x="822960" y="4800599"/>
            <a:ext cx="6244133" cy="4142258"/>
          </a:xfrm>
          <a:prstGeom prst="roundRect">
            <a:avLst>
              <a:gd name="adj" fmla="val 4242"/>
            </a:avLst>
          </a:prstGeom>
          <a:solidFill>
            <a:srgbClr val="FFFFFF"/>
          </a:solidFill>
          <a:ln w="19050">
            <a:solidFill>
              <a:srgbClr val="00B0F0"/>
            </a:solidFill>
            <a:prstDash val="solid"/>
          </a:ln>
        </p:spPr>
        <p:txBody>
          <a:bodyPr/>
          <a:lstStyle/>
          <a:p>
            <a:endParaRPr lang="de-DE" noProof="0" dirty="0"/>
          </a:p>
        </p:txBody>
      </p:sp>
      <p:sp>
        <p:nvSpPr>
          <p:cNvPr id="15" name="Text 13"/>
          <p:cNvSpPr txBox="1"/>
          <p:nvPr/>
        </p:nvSpPr>
        <p:spPr>
          <a:xfrm>
            <a:off x="1181982" y="4922737"/>
            <a:ext cx="4899965"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1. Motivation</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16" name="Text 14"/>
          <p:cNvSpPr txBox="1"/>
          <p:nvPr/>
        </p:nvSpPr>
        <p:spPr>
          <a:xfrm>
            <a:off x="1197330" y="5550219"/>
            <a:ext cx="5512613" cy="2976969"/>
          </a:xfrm>
          <a:prstGeom prst="rect">
            <a:avLst/>
          </a:prstGeom>
          <a:noFill/>
          <a:ln/>
        </p:spPr>
        <p:txBody>
          <a:bodyPr wrap="square" lIns="0" tIns="0" rIns="0" bIns="0" rtlCol="0" anchor="t"/>
          <a:lstStyle/>
          <a:p>
            <a:pPr marL="0" indent="0" algn="l">
              <a:lnSpc>
                <a:spcPct val="112000"/>
              </a:lnSpc>
              <a:spcAft>
                <a:spcPts val="600"/>
              </a:spcAft>
              <a:buNone/>
            </a:pPr>
            <a:r>
              <a:rPr lang="de-DE" b="1" noProof="0" dirty="0">
                <a:solidFill>
                  <a:srgbClr val="23272E"/>
                </a:solidFill>
                <a:latin typeface="Times New Roman" panose="02020603050405020304" pitchFamily="18" charset="0"/>
                <a:ea typeface="Calibri" pitchFamily="34" charset="-122"/>
                <a:cs typeface="Times New Roman" panose="02020603050405020304" pitchFamily="18" charset="0"/>
              </a:rPr>
              <a:t>Einleitung: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Der Standort Linden/Fischerhof der Hochschule Hannover verfügt über mehrere Lernecken, welche auf dem ganzen Campus verteilt sind. Diese Lernecken sollen Studierenden einen Platz zum lernen und Austauschen bieten.</a:t>
            </a:r>
            <a:endParaRPr lang="de-DE" sz="1600" b="1" noProof="0" dirty="0">
              <a:solidFill>
                <a:srgbClr val="23272E"/>
              </a:solidFill>
              <a:latin typeface="Times New Roman" panose="02020603050405020304" pitchFamily="18" charset="0"/>
              <a:ea typeface="Calibri" pitchFamily="34" charset="-122"/>
              <a:cs typeface="Times New Roman" panose="02020603050405020304" pitchFamily="18" charset="0"/>
            </a:endParaRPr>
          </a:p>
          <a:p>
            <a:pPr marL="0" indent="0" algn="l">
              <a:lnSpc>
                <a:spcPct val="112000"/>
              </a:lnSpc>
              <a:spcAft>
                <a:spcPts val="600"/>
              </a:spcAft>
              <a:buNone/>
            </a:pPr>
            <a:r>
              <a:rPr lang="de-DE" b="1" noProof="0" dirty="0">
                <a:solidFill>
                  <a:srgbClr val="23272E"/>
                </a:solidFill>
                <a:latin typeface="Times New Roman" panose="02020603050405020304" pitchFamily="18" charset="0"/>
                <a:ea typeface="Calibri" pitchFamily="34" charset="-122"/>
                <a:cs typeface="Times New Roman" panose="02020603050405020304" pitchFamily="18" charset="0"/>
              </a:rPr>
              <a:t>Problem: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In den Klausurenphasen ist die Nachfrage nach Lernecken sehr hoch. Studierende suchen oftmals lange nach freien Lernplätzen, leider gelegentlich auch ohne Erfolg. Es entstehen unnötige Wege und Wartezeiten beim Suchen.
</a:t>
            </a:r>
            <a:r>
              <a:rPr lang="de-DE" b="1" u="sng" noProof="0" dirty="0">
                <a:solidFill>
                  <a:srgbClr val="23272E"/>
                </a:solidFill>
                <a:latin typeface="Times New Roman" panose="02020603050405020304" pitchFamily="18" charset="0"/>
                <a:ea typeface="Calibri" pitchFamily="34" charset="-122"/>
                <a:cs typeface="Times New Roman" panose="02020603050405020304" pitchFamily="18" charset="0"/>
              </a:rPr>
              <a:t>Lösung: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Eine öffentlich zugängliche Webseite, die die Auslastung der Lernecken in Echtzeit visualisiert und das Finden von freien Lernecken erleichtert.</a:t>
            </a:r>
            <a:endParaRPr lang="de-DE" sz="1600" noProof="0" dirty="0">
              <a:latin typeface="Times New Roman" panose="02020603050405020304" pitchFamily="18" charset="0"/>
              <a:cs typeface="Times New Roman" panose="02020603050405020304" pitchFamily="18" charset="0"/>
            </a:endParaRPr>
          </a:p>
        </p:txBody>
      </p:sp>
      <p:sp>
        <p:nvSpPr>
          <p:cNvPr id="17" name="Shape 15"/>
          <p:cNvSpPr/>
          <p:nvPr/>
        </p:nvSpPr>
        <p:spPr>
          <a:xfrm>
            <a:off x="822960" y="9235440"/>
            <a:ext cx="6244133" cy="19165824"/>
          </a:xfrm>
          <a:prstGeom prst="roundRect">
            <a:avLst>
              <a:gd name="adj" fmla="val 2050"/>
            </a:avLst>
          </a:prstGeom>
          <a:solidFill>
            <a:srgbClr val="FFFFFF"/>
          </a:solidFill>
          <a:ln w="19050">
            <a:solidFill>
              <a:srgbClr val="00B0F0"/>
            </a:solidFill>
            <a:prstDash val="solid"/>
          </a:ln>
        </p:spPr>
        <p:txBody>
          <a:bodyPr/>
          <a:lstStyle/>
          <a:p>
            <a:endParaRPr lang="de-DE" noProof="0" dirty="0"/>
          </a:p>
        </p:txBody>
      </p:sp>
      <p:sp>
        <p:nvSpPr>
          <p:cNvPr id="20" name="Text 18"/>
          <p:cNvSpPr txBox="1"/>
          <p:nvPr/>
        </p:nvSpPr>
        <p:spPr>
          <a:xfrm>
            <a:off x="1152220" y="9421051"/>
            <a:ext cx="4899965"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2. Architektur &amp; Methodik</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21" name="Text 19"/>
          <p:cNvSpPr txBox="1"/>
          <p:nvPr/>
        </p:nvSpPr>
        <p:spPr>
          <a:xfrm>
            <a:off x="1152220" y="10135211"/>
            <a:ext cx="5512613" cy="6579175"/>
          </a:xfrm>
          <a:prstGeom prst="rect">
            <a:avLst/>
          </a:prstGeom>
          <a:noFill/>
          <a:ln/>
        </p:spPr>
        <p:txBody>
          <a:bodyPr wrap="square" lIns="0" tIns="0" rIns="0" bIns="0" rtlCol="0" anchor="t"/>
          <a:lstStyle/>
          <a:p>
            <a:pPr marL="0" indent="0" algn="l">
              <a:lnSpc>
                <a:spcPct val="112000"/>
              </a:lnSpc>
              <a:spcAft>
                <a:spcPts val="600"/>
              </a:spcAft>
              <a:buNone/>
            </a:pPr>
            <a:r>
              <a:rPr lang="de-DE" b="1" noProof="0" dirty="0">
                <a:solidFill>
                  <a:srgbClr val="23272E"/>
                </a:solidFill>
                <a:latin typeface="Times New Roman" panose="02020603050405020304" pitchFamily="18" charset="0"/>
                <a:ea typeface="Calibri" pitchFamily="34" charset="-122"/>
                <a:cs typeface="Times New Roman" panose="02020603050405020304" pitchFamily="18" charset="0"/>
              </a:rPr>
              <a:t>Ansatz: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Sensorik, welche über den Campus verteilt ist, soll zentral zusammengeführt werden. Eine Web-Anzeige soll es allen ermöglichen, aktuelle Daten einzusehen.</a:t>
            </a:r>
            <a:endParaRPr lang="de-DE" sz="1600" b="1" noProof="0" dirty="0">
              <a:solidFill>
                <a:srgbClr val="23272E"/>
              </a:solidFill>
              <a:latin typeface="Times New Roman" panose="02020603050405020304" pitchFamily="18" charset="0"/>
              <a:ea typeface="Calibri" pitchFamily="34" charset="-122"/>
              <a:cs typeface="Times New Roman" panose="02020603050405020304" pitchFamily="18" charset="0"/>
            </a:endParaRPr>
          </a:p>
          <a:p>
            <a:pPr marL="0" indent="0" algn="l">
              <a:lnSpc>
                <a:spcPct val="112000"/>
              </a:lnSpc>
              <a:spcAft>
                <a:spcPts val="600"/>
              </a:spcAft>
              <a:buNone/>
            </a:pPr>
            <a:r>
              <a:rPr lang="de-DE" sz="1600" b="1" noProof="0" dirty="0">
                <a:solidFill>
                  <a:srgbClr val="23272E"/>
                </a:solidFill>
                <a:latin typeface="Times New Roman" panose="02020603050405020304" pitchFamily="18" charset="0"/>
                <a:ea typeface="Calibri" pitchFamily="34" charset="-122"/>
                <a:cs typeface="Times New Roman" panose="02020603050405020304" pitchFamily="18" charset="0"/>
              </a:rPr>
              <a:t>Architektur:</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Pro </a:t>
            </a:r>
            <a:r>
              <a:rPr lang="de-DE" sz="1500" noProof="0" dirty="0" err="1">
                <a:solidFill>
                  <a:srgbClr val="23272E"/>
                </a:solidFill>
                <a:latin typeface="Times New Roman" panose="02020603050405020304" pitchFamily="18" charset="0"/>
                <a:ea typeface="Calibri" pitchFamily="34" charset="-122"/>
                <a:cs typeface="Times New Roman" panose="02020603050405020304" pitchFamily="18" charset="0"/>
              </a:rPr>
              <a:t>Lernecke</a:t>
            </a: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 ein ESP32 mit WiFi und AMG8833-Wärmesensor (8×8-Pixel-Infrarot-Array), welcher die Belegung lokal bestimmt.</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Die Übertragung erfolgt per HTTPS an einen Home Assistent Webhook, je Sensor wird eine JSON-Datei abgelegt.</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Auf einem Raspberry Pi 5 läuft Home Assistant, hier werden die Rohdaten jedes Sensors zu einer Datei zusammengefasst.</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Die Website liest die zusammengefasste Datei und aktualisiert somit periodisch die Belegung.</a:t>
            </a:r>
          </a:p>
          <a:p>
            <a:pPr marL="285750" indent="-285750" algn="l">
              <a:lnSpc>
                <a:spcPct val="112000"/>
              </a:lnSpc>
              <a:spcAft>
                <a:spcPts val="600"/>
              </a:spcAft>
              <a:buFont typeface="Arial" panose="020B0604020202020204" pitchFamily="34" charset="0"/>
              <a:buChar char="•"/>
            </a:pPr>
            <a:r>
              <a:rPr lang="de-DE" sz="1500" b="1" noProof="0" dirty="0">
                <a:solidFill>
                  <a:schemeClr val="accent1">
                    <a:lumMod val="75000"/>
                  </a:schemeClr>
                </a:solidFill>
                <a:latin typeface="Times New Roman" panose="02020603050405020304" pitchFamily="18" charset="0"/>
                <a:ea typeface="Calibri" pitchFamily="34" charset="-122"/>
                <a:cs typeface="Times New Roman" panose="02020603050405020304" pitchFamily="18" charset="0"/>
              </a:rPr>
              <a:t>Zwischen Sensor und Anzeige liegt immer eine Datei: </a:t>
            </a: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Damit sind beide Seiten individuell anpassbar, solange diese zentrale Funktionalität bleibt</a:t>
            </a:r>
            <a:r>
              <a:rPr lang="de-DE" sz="1400" noProof="0" dirty="0">
                <a:solidFill>
                  <a:srgbClr val="23272E"/>
                </a:solidFill>
                <a:latin typeface="Times New Roman" panose="02020603050405020304" pitchFamily="18" charset="0"/>
                <a:ea typeface="Calibri" pitchFamily="34" charset="-122"/>
                <a:cs typeface="Times New Roman" panose="02020603050405020304" pitchFamily="18" charset="0"/>
              </a:rPr>
              <a:t>.</a:t>
            </a:r>
          </a:p>
          <a:p>
            <a:pPr algn="l">
              <a:lnSpc>
                <a:spcPct val="112000"/>
              </a:lnSpc>
              <a:spcAft>
                <a:spcPts val="600"/>
              </a:spcAft>
            </a:pPr>
            <a:r>
              <a:rPr lang="de-DE" sz="1600" b="1" noProof="0" dirty="0">
                <a:solidFill>
                  <a:srgbClr val="23272E"/>
                </a:solidFill>
                <a:latin typeface="Times New Roman" panose="02020603050405020304" pitchFamily="18" charset="0"/>
                <a:ea typeface="Calibri" pitchFamily="34" charset="-122"/>
                <a:cs typeface="Times New Roman" panose="02020603050405020304" pitchFamily="18" charset="0"/>
              </a:rPr>
              <a:t>Methodik: </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Belegungserkennung wird am ESP32 aus Wärmebildinformation abgeleitet, so kann die gesendete Datenmenge reduziert werden.</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Die 64 Pixel des Sensors werden auf vier Zonen aufgeteilt, jede Zone wird einzeln ausgewertet: eine Zone je Sitzplatz.</a:t>
            </a:r>
          </a:p>
          <a:p>
            <a:pPr marL="285750" indent="-285750" algn="l">
              <a:lnSpc>
                <a:spcPct val="112000"/>
              </a:lnSpc>
              <a:spcAft>
                <a:spcPts val="600"/>
              </a:spcAft>
              <a:buFont typeface="Arial" panose="020B0604020202020204" pitchFamily="34" charset="0"/>
              <a:buChar char="•"/>
            </a:pP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Je nach Temperaturwert und Veränderung wird entschieden, ob ein Sitzplatz als belegt gilt oder nicht.</a:t>
            </a:r>
          </a:p>
          <a:p>
            <a:pPr marL="0" indent="0" algn="l">
              <a:lnSpc>
                <a:spcPct val="112000"/>
              </a:lnSpc>
              <a:spcAft>
                <a:spcPts val="600"/>
              </a:spcAft>
              <a:buNone/>
            </a:pPr>
            <a:endParaRPr lang="de-DE" sz="1500" b="1" noProof="0" dirty="0">
              <a:solidFill>
                <a:srgbClr val="23272E"/>
              </a:solidFill>
              <a:latin typeface="Calibri" pitchFamily="34" charset="0"/>
              <a:ea typeface="Calibri" pitchFamily="34" charset="-122"/>
              <a:cs typeface="Calibri" pitchFamily="34" charset="-120"/>
            </a:endParaRPr>
          </a:p>
        </p:txBody>
      </p:sp>
      <p:sp>
        <p:nvSpPr>
          <p:cNvPr id="22" name="Text 20"/>
          <p:cNvSpPr txBox="1"/>
          <p:nvPr/>
        </p:nvSpPr>
        <p:spPr>
          <a:xfrm>
            <a:off x="1188720" y="17006969"/>
            <a:ext cx="5512613" cy="457200"/>
          </a:xfrm>
          <a:prstGeom prst="rect">
            <a:avLst/>
          </a:prstGeom>
          <a:noFill/>
          <a:ln/>
        </p:spPr>
        <p:txBody>
          <a:bodyPr wrap="square" lIns="0" tIns="0" rIns="0" bIns="0" rtlCol="0" anchor="ctr"/>
          <a:lstStyle>
            <a:lvl1pPr indent="0">
              <a:buNone/>
              <a:defRPr sz="2300" b="1">
                <a:solidFill>
                  <a:srgbClr val="23272E"/>
                </a:solidFill>
                <a:latin typeface="+mj-lt"/>
                <a:ea typeface="Cambria" pitchFamily="34" charset="-122"/>
                <a:cs typeface="Cambria" pitchFamily="34" charset="-120"/>
              </a:defRPr>
            </a:lvl1pPr>
          </a:lstStyle>
          <a:p>
            <a:r>
              <a:rPr lang="de-DE" sz="2800" noProof="0" dirty="0">
                <a:solidFill>
                  <a:schemeClr val="accent1">
                    <a:lumMod val="50000"/>
                  </a:schemeClr>
                </a:solidFill>
                <a:latin typeface="Arial" panose="020B0604020202020204" pitchFamily="34" charset="0"/>
                <a:cs typeface="Arial" panose="020B0604020202020204" pitchFamily="34" charset="0"/>
              </a:rPr>
              <a:t>Datenkette:</a:t>
            </a:r>
          </a:p>
        </p:txBody>
      </p:sp>
      <p:sp>
        <p:nvSpPr>
          <p:cNvPr id="23" name="Shape 21"/>
          <p:cNvSpPr/>
          <p:nvPr/>
        </p:nvSpPr>
        <p:spPr>
          <a:xfrm>
            <a:off x="1197331" y="17618311"/>
            <a:ext cx="5329733" cy="914400"/>
          </a:xfrm>
          <a:prstGeom prst="roundRect">
            <a:avLst>
              <a:gd name="adj" fmla="val 10000"/>
            </a:avLst>
          </a:prstGeom>
          <a:solidFill>
            <a:srgbClr val="E4F5FC"/>
          </a:solidFill>
          <a:ln w="12700">
            <a:solidFill>
              <a:srgbClr val="A9DEF2"/>
            </a:solidFill>
            <a:prstDash val="solid"/>
          </a:ln>
        </p:spPr>
        <p:txBody>
          <a:bodyPr/>
          <a:lstStyle/>
          <a:p>
            <a:endParaRPr lang="de-DE" noProof="0" dirty="0"/>
          </a:p>
        </p:txBody>
      </p:sp>
      <p:sp>
        <p:nvSpPr>
          <p:cNvPr id="24" name="Shape 22"/>
          <p:cNvSpPr/>
          <p:nvPr/>
        </p:nvSpPr>
        <p:spPr>
          <a:xfrm>
            <a:off x="1398499" y="17856055"/>
            <a:ext cx="438912" cy="438912"/>
          </a:xfrm>
          <a:prstGeom prst="ellipse">
            <a:avLst/>
          </a:prstGeom>
          <a:solidFill>
            <a:srgbClr val="29B6E6"/>
          </a:solidFill>
          <a:ln/>
        </p:spPr>
        <p:txBody>
          <a:bodyPr/>
          <a:lstStyle/>
          <a:p>
            <a:endParaRPr lang="de-DE" noProof="0" dirty="0"/>
          </a:p>
        </p:txBody>
      </p:sp>
      <p:sp>
        <p:nvSpPr>
          <p:cNvPr id="25" name="Text 23"/>
          <p:cNvSpPr txBox="1"/>
          <p:nvPr/>
        </p:nvSpPr>
        <p:spPr>
          <a:xfrm>
            <a:off x="1398499" y="17856055"/>
            <a:ext cx="438912" cy="438912"/>
          </a:xfrm>
          <a:prstGeom prst="rect">
            <a:avLst/>
          </a:prstGeom>
          <a:noFill/>
          <a:ln/>
        </p:spPr>
        <p:txBody>
          <a:bodyPr wrap="square" lIns="0" tIns="0" rIns="0" bIns="0" rtlCol="0" anchor="ctr"/>
          <a:lstStyle/>
          <a:p>
            <a:pPr marL="0" indent="0" algn="ctr">
              <a:buNone/>
            </a:pPr>
            <a:r>
              <a:rPr lang="de-DE" sz="1600" b="1" noProof="0" dirty="0">
                <a:solidFill>
                  <a:srgbClr val="FFFFFF"/>
                </a:solidFill>
                <a:latin typeface="Calibri" pitchFamily="34" charset="0"/>
                <a:ea typeface="Calibri" pitchFamily="34" charset="-122"/>
                <a:cs typeface="Calibri" pitchFamily="34" charset="-120"/>
              </a:rPr>
              <a:t>1</a:t>
            </a:r>
            <a:endParaRPr lang="de-DE" sz="1600" noProof="0" dirty="0"/>
          </a:p>
        </p:txBody>
      </p:sp>
      <p:sp>
        <p:nvSpPr>
          <p:cNvPr id="26" name="Text 24"/>
          <p:cNvSpPr txBox="1"/>
          <p:nvPr/>
        </p:nvSpPr>
        <p:spPr>
          <a:xfrm>
            <a:off x="2020291" y="17618311"/>
            <a:ext cx="4415333" cy="914400"/>
          </a:xfrm>
          <a:prstGeom prst="rect">
            <a:avLst/>
          </a:prstGeom>
          <a:noFill/>
          <a:ln/>
        </p:spPr>
        <p:txBody>
          <a:bodyPr wrap="square" lIns="0" tIns="0" rIns="0" bIns="0" rtlCol="0" anchor="ctr"/>
          <a:lstStyle>
            <a:lvl1pPr indent="0">
              <a:buNone/>
              <a:defRPr sz="1500" b="1">
                <a:solidFill>
                  <a:srgbClr val="1B7BA0"/>
                </a:solidFill>
                <a:ea typeface="Calibri" pitchFamily="34" charset="-122"/>
                <a:cs typeface="Calibri" pitchFamily="34" charset="-120"/>
              </a:defRPr>
            </a:lvl1pPr>
          </a:lstStyle>
          <a:p>
            <a:r>
              <a:rPr lang="de-DE" sz="1800" noProof="0" dirty="0">
                <a:solidFill>
                  <a:schemeClr val="accent1">
                    <a:lumMod val="75000"/>
                  </a:schemeClr>
                </a:solidFill>
                <a:latin typeface="Times New Roman" panose="02020603050405020304" pitchFamily="18" charset="0"/>
                <a:cs typeface="Times New Roman" panose="02020603050405020304" pitchFamily="18" charset="0"/>
              </a:rPr>
              <a:t>Sensor – I2C Auslesung</a:t>
            </a:r>
          </a:p>
        </p:txBody>
      </p:sp>
      <p:sp>
        <p:nvSpPr>
          <p:cNvPr id="27" name="Text 25"/>
          <p:cNvSpPr txBox="1"/>
          <p:nvPr/>
        </p:nvSpPr>
        <p:spPr>
          <a:xfrm>
            <a:off x="1197331" y="18486991"/>
            <a:ext cx="5329733" cy="457200"/>
          </a:xfrm>
          <a:prstGeom prst="rect">
            <a:avLst/>
          </a:prstGeom>
          <a:noFill/>
          <a:ln/>
        </p:spPr>
        <p:txBody>
          <a:bodyPr wrap="square" lIns="0" tIns="0" rIns="0" bIns="0" rtlCol="0" anchor="ctr"/>
          <a:lstStyle/>
          <a:p>
            <a:pPr marL="0" indent="0" algn="ctr">
              <a:buNone/>
            </a:pPr>
            <a:r>
              <a:rPr lang="de-DE" sz="1200" noProof="0" dirty="0">
                <a:solidFill>
                  <a:schemeClr val="accent1">
                    <a:lumMod val="75000"/>
                  </a:schemeClr>
                </a:solidFill>
                <a:latin typeface="Calibri" pitchFamily="34" charset="0"/>
                <a:ea typeface="Calibri" pitchFamily="34" charset="-122"/>
                <a:cs typeface="Calibri" pitchFamily="34" charset="-120"/>
              </a:rPr>
              <a:t>▼</a:t>
            </a:r>
            <a:endParaRPr lang="de-DE" sz="1200" noProof="0" dirty="0">
              <a:solidFill>
                <a:schemeClr val="accent1">
                  <a:lumMod val="75000"/>
                </a:schemeClr>
              </a:solidFill>
            </a:endParaRPr>
          </a:p>
        </p:txBody>
      </p:sp>
      <p:sp>
        <p:nvSpPr>
          <p:cNvPr id="28" name="Shape 26"/>
          <p:cNvSpPr/>
          <p:nvPr/>
        </p:nvSpPr>
        <p:spPr>
          <a:xfrm>
            <a:off x="1197331" y="18989911"/>
            <a:ext cx="5329733" cy="914400"/>
          </a:xfrm>
          <a:prstGeom prst="roundRect">
            <a:avLst>
              <a:gd name="adj" fmla="val 10000"/>
            </a:avLst>
          </a:prstGeom>
          <a:solidFill>
            <a:srgbClr val="E4F5FC"/>
          </a:solidFill>
          <a:ln w="12700">
            <a:solidFill>
              <a:srgbClr val="A9DEF2"/>
            </a:solidFill>
            <a:prstDash val="solid"/>
          </a:ln>
        </p:spPr>
        <p:txBody>
          <a:bodyPr/>
          <a:lstStyle/>
          <a:p>
            <a:endParaRPr lang="de-DE" noProof="0" dirty="0"/>
          </a:p>
        </p:txBody>
      </p:sp>
      <p:sp>
        <p:nvSpPr>
          <p:cNvPr id="29" name="Shape 27"/>
          <p:cNvSpPr/>
          <p:nvPr/>
        </p:nvSpPr>
        <p:spPr>
          <a:xfrm>
            <a:off x="1398499" y="19227655"/>
            <a:ext cx="438912" cy="438912"/>
          </a:xfrm>
          <a:prstGeom prst="ellipse">
            <a:avLst/>
          </a:prstGeom>
          <a:solidFill>
            <a:srgbClr val="29B6E6"/>
          </a:solidFill>
          <a:ln/>
        </p:spPr>
        <p:txBody>
          <a:bodyPr/>
          <a:lstStyle/>
          <a:p>
            <a:endParaRPr lang="de-DE" noProof="0" dirty="0"/>
          </a:p>
        </p:txBody>
      </p:sp>
      <p:sp>
        <p:nvSpPr>
          <p:cNvPr id="30" name="Text 28"/>
          <p:cNvSpPr txBox="1"/>
          <p:nvPr/>
        </p:nvSpPr>
        <p:spPr>
          <a:xfrm>
            <a:off x="1398499" y="19227655"/>
            <a:ext cx="438912" cy="438912"/>
          </a:xfrm>
          <a:prstGeom prst="rect">
            <a:avLst/>
          </a:prstGeom>
          <a:noFill/>
          <a:ln/>
        </p:spPr>
        <p:txBody>
          <a:bodyPr wrap="square" lIns="0" tIns="0" rIns="0" bIns="0" rtlCol="0" anchor="ctr"/>
          <a:lstStyle/>
          <a:p>
            <a:pPr marL="0" indent="0" algn="ctr">
              <a:buNone/>
            </a:pPr>
            <a:r>
              <a:rPr lang="de-DE" sz="1600" b="1" noProof="0" dirty="0">
                <a:solidFill>
                  <a:srgbClr val="FFFFFF"/>
                </a:solidFill>
                <a:latin typeface="Calibri" pitchFamily="34" charset="0"/>
                <a:ea typeface="Calibri" pitchFamily="34" charset="-122"/>
                <a:cs typeface="Calibri" pitchFamily="34" charset="-120"/>
              </a:rPr>
              <a:t>2</a:t>
            </a:r>
            <a:endParaRPr lang="de-DE" sz="1600" noProof="0" dirty="0"/>
          </a:p>
        </p:txBody>
      </p:sp>
      <p:sp>
        <p:nvSpPr>
          <p:cNvPr id="31" name="Text 29"/>
          <p:cNvSpPr txBox="1"/>
          <p:nvPr/>
        </p:nvSpPr>
        <p:spPr>
          <a:xfrm>
            <a:off x="2020291" y="18989911"/>
            <a:ext cx="4415333" cy="914400"/>
          </a:xfrm>
          <a:prstGeom prst="rect">
            <a:avLst/>
          </a:prstGeom>
          <a:noFill/>
          <a:ln/>
        </p:spPr>
        <p:txBody>
          <a:bodyPr wrap="square" lIns="0" tIns="0" rIns="0" bIns="0" rtlCol="0" anchor="ctr"/>
          <a:lstStyle>
            <a:lvl1pPr indent="0">
              <a:buNone/>
              <a:defRPr sz="1500" b="1">
                <a:solidFill>
                  <a:srgbClr val="1B7BA0"/>
                </a:solidFill>
                <a:ea typeface="Calibri" pitchFamily="34" charset="-122"/>
                <a:cs typeface="Calibri" pitchFamily="34" charset="-120"/>
              </a:defRPr>
            </a:lvl1pPr>
          </a:lstStyle>
          <a:p>
            <a:r>
              <a:rPr lang="de-DE" sz="1800" noProof="0" dirty="0">
                <a:solidFill>
                  <a:schemeClr val="accent1">
                    <a:lumMod val="75000"/>
                  </a:schemeClr>
                </a:solidFill>
                <a:latin typeface="Times New Roman" panose="02020603050405020304" pitchFamily="18" charset="0"/>
                <a:cs typeface="Times New Roman" panose="02020603050405020304" pitchFamily="18" charset="0"/>
              </a:rPr>
              <a:t>Zustandslogik (ESP32) → JSON</a:t>
            </a:r>
          </a:p>
        </p:txBody>
      </p:sp>
      <p:sp>
        <p:nvSpPr>
          <p:cNvPr id="32" name="Text 30"/>
          <p:cNvSpPr txBox="1"/>
          <p:nvPr/>
        </p:nvSpPr>
        <p:spPr>
          <a:xfrm>
            <a:off x="1197331" y="19858591"/>
            <a:ext cx="5329733" cy="457200"/>
          </a:xfrm>
          <a:prstGeom prst="rect">
            <a:avLst/>
          </a:prstGeom>
          <a:noFill/>
          <a:ln/>
        </p:spPr>
        <p:txBody>
          <a:bodyPr wrap="square" lIns="0" tIns="0" rIns="0" bIns="0" rtlCol="0" anchor="ctr"/>
          <a:lstStyle/>
          <a:p>
            <a:pPr marL="0" indent="0" algn="ctr">
              <a:buNone/>
            </a:pPr>
            <a:r>
              <a:rPr lang="de-DE" sz="1200" noProof="0" dirty="0">
                <a:solidFill>
                  <a:schemeClr val="accent1">
                    <a:lumMod val="75000"/>
                  </a:schemeClr>
                </a:solidFill>
                <a:latin typeface="Calibri" pitchFamily="34" charset="0"/>
                <a:ea typeface="Calibri" pitchFamily="34" charset="-122"/>
                <a:cs typeface="Calibri" pitchFamily="34" charset="-120"/>
              </a:rPr>
              <a:t>▼</a:t>
            </a:r>
            <a:endParaRPr lang="de-DE" sz="1200" noProof="0" dirty="0">
              <a:solidFill>
                <a:schemeClr val="accent1">
                  <a:lumMod val="75000"/>
                </a:schemeClr>
              </a:solidFill>
            </a:endParaRPr>
          </a:p>
        </p:txBody>
      </p:sp>
      <p:sp>
        <p:nvSpPr>
          <p:cNvPr id="33" name="Shape 31"/>
          <p:cNvSpPr/>
          <p:nvPr/>
        </p:nvSpPr>
        <p:spPr>
          <a:xfrm>
            <a:off x="1197331" y="20361511"/>
            <a:ext cx="5329733" cy="914400"/>
          </a:xfrm>
          <a:prstGeom prst="roundRect">
            <a:avLst>
              <a:gd name="adj" fmla="val 10000"/>
            </a:avLst>
          </a:prstGeom>
          <a:solidFill>
            <a:srgbClr val="E4F5FC"/>
          </a:solidFill>
          <a:ln w="12700">
            <a:solidFill>
              <a:srgbClr val="A9DEF2"/>
            </a:solidFill>
            <a:prstDash val="solid"/>
          </a:ln>
        </p:spPr>
        <p:txBody>
          <a:bodyPr/>
          <a:lstStyle/>
          <a:p>
            <a:endParaRPr lang="de-DE" noProof="0" dirty="0"/>
          </a:p>
        </p:txBody>
      </p:sp>
      <p:sp>
        <p:nvSpPr>
          <p:cNvPr id="34" name="Shape 32"/>
          <p:cNvSpPr/>
          <p:nvPr/>
        </p:nvSpPr>
        <p:spPr>
          <a:xfrm>
            <a:off x="1398499" y="20599255"/>
            <a:ext cx="438912" cy="438912"/>
          </a:xfrm>
          <a:prstGeom prst="ellipse">
            <a:avLst/>
          </a:prstGeom>
          <a:solidFill>
            <a:srgbClr val="29B6E6"/>
          </a:solidFill>
          <a:ln/>
        </p:spPr>
        <p:txBody>
          <a:bodyPr/>
          <a:lstStyle/>
          <a:p>
            <a:endParaRPr lang="de-DE" noProof="0" dirty="0"/>
          </a:p>
        </p:txBody>
      </p:sp>
      <p:sp>
        <p:nvSpPr>
          <p:cNvPr id="35" name="Text 33"/>
          <p:cNvSpPr txBox="1"/>
          <p:nvPr/>
        </p:nvSpPr>
        <p:spPr>
          <a:xfrm>
            <a:off x="1398499" y="20599255"/>
            <a:ext cx="438912" cy="438912"/>
          </a:xfrm>
          <a:prstGeom prst="rect">
            <a:avLst/>
          </a:prstGeom>
          <a:noFill/>
          <a:ln/>
        </p:spPr>
        <p:txBody>
          <a:bodyPr wrap="square" lIns="0" tIns="0" rIns="0" bIns="0" rtlCol="0" anchor="ctr"/>
          <a:lstStyle/>
          <a:p>
            <a:pPr marL="0" indent="0" algn="ctr">
              <a:buNone/>
            </a:pPr>
            <a:r>
              <a:rPr lang="de-DE" sz="1600" b="1" noProof="0" dirty="0">
                <a:solidFill>
                  <a:srgbClr val="FFFFFF"/>
                </a:solidFill>
                <a:latin typeface="Calibri" pitchFamily="34" charset="0"/>
                <a:ea typeface="Calibri" pitchFamily="34" charset="-122"/>
                <a:cs typeface="Calibri" pitchFamily="34" charset="-120"/>
              </a:rPr>
              <a:t>3</a:t>
            </a:r>
            <a:endParaRPr lang="de-DE" sz="1600" noProof="0" dirty="0"/>
          </a:p>
        </p:txBody>
      </p:sp>
      <p:sp>
        <p:nvSpPr>
          <p:cNvPr id="36" name="Text 34"/>
          <p:cNvSpPr txBox="1"/>
          <p:nvPr/>
        </p:nvSpPr>
        <p:spPr>
          <a:xfrm>
            <a:off x="2020291" y="20361511"/>
            <a:ext cx="4415333" cy="914400"/>
          </a:xfrm>
          <a:prstGeom prst="rect">
            <a:avLst/>
          </a:prstGeom>
          <a:noFill/>
          <a:ln/>
        </p:spPr>
        <p:txBody>
          <a:bodyPr wrap="square" lIns="0" tIns="0" rIns="0" bIns="0" rtlCol="0" anchor="ctr"/>
          <a:lstStyle/>
          <a:p>
            <a:pPr marL="0" indent="0" algn="l">
              <a:buNone/>
            </a:pPr>
            <a:r>
              <a:rPr lang="de-DE" b="1" noProof="0" dirty="0">
                <a:solidFill>
                  <a:schemeClr val="accent1">
                    <a:lumMod val="75000"/>
                  </a:schemeClr>
                </a:solidFill>
                <a:latin typeface="Times New Roman" panose="02020603050405020304" pitchFamily="18" charset="0"/>
                <a:ea typeface="Calibri" pitchFamily="34" charset="-122"/>
                <a:cs typeface="Times New Roman" panose="02020603050405020304" pitchFamily="18" charset="0"/>
              </a:rPr>
              <a:t>HTTPS-Webhook</a:t>
            </a:r>
          </a:p>
        </p:txBody>
      </p:sp>
      <p:sp>
        <p:nvSpPr>
          <p:cNvPr id="37" name="Text 35"/>
          <p:cNvSpPr txBox="1"/>
          <p:nvPr/>
        </p:nvSpPr>
        <p:spPr>
          <a:xfrm>
            <a:off x="1197331" y="21230191"/>
            <a:ext cx="5329733" cy="457200"/>
          </a:xfrm>
          <a:prstGeom prst="rect">
            <a:avLst/>
          </a:prstGeom>
          <a:noFill/>
          <a:ln/>
        </p:spPr>
        <p:txBody>
          <a:bodyPr wrap="square" lIns="0" tIns="0" rIns="0" bIns="0" rtlCol="0" anchor="ctr"/>
          <a:lstStyle/>
          <a:p>
            <a:pPr marL="0" indent="0" algn="ctr">
              <a:buNone/>
            </a:pPr>
            <a:r>
              <a:rPr lang="de-DE" sz="1200" noProof="0" dirty="0">
                <a:solidFill>
                  <a:schemeClr val="accent1">
                    <a:lumMod val="75000"/>
                  </a:schemeClr>
                </a:solidFill>
                <a:latin typeface="Calibri" pitchFamily="34" charset="0"/>
                <a:ea typeface="Calibri" pitchFamily="34" charset="-122"/>
                <a:cs typeface="Calibri" pitchFamily="34" charset="-120"/>
              </a:rPr>
              <a:t>▼</a:t>
            </a:r>
            <a:endParaRPr lang="de-DE" sz="1200" noProof="0" dirty="0">
              <a:solidFill>
                <a:schemeClr val="accent1">
                  <a:lumMod val="75000"/>
                </a:schemeClr>
              </a:solidFill>
            </a:endParaRPr>
          </a:p>
        </p:txBody>
      </p:sp>
      <p:sp>
        <p:nvSpPr>
          <p:cNvPr id="38" name="Shape 36"/>
          <p:cNvSpPr/>
          <p:nvPr/>
        </p:nvSpPr>
        <p:spPr>
          <a:xfrm>
            <a:off x="1197331" y="21733111"/>
            <a:ext cx="5329733" cy="914400"/>
          </a:xfrm>
          <a:prstGeom prst="roundRect">
            <a:avLst>
              <a:gd name="adj" fmla="val 10000"/>
            </a:avLst>
          </a:prstGeom>
          <a:solidFill>
            <a:srgbClr val="E4F5FC"/>
          </a:solidFill>
          <a:ln w="12700">
            <a:solidFill>
              <a:srgbClr val="A9DEF2"/>
            </a:solidFill>
            <a:prstDash val="solid"/>
          </a:ln>
        </p:spPr>
        <p:txBody>
          <a:bodyPr/>
          <a:lstStyle/>
          <a:p>
            <a:endParaRPr lang="de-DE" noProof="0" dirty="0"/>
          </a:p>
        </p:txBody>
      </p:sp>
      <p:sp>
        <p:nvSpPr>
          <p:cNvPr id="39" name="Shape 37"/>
          <p:cNvSpPr/>
          <p:nvPr/>
        </p:nvSpPr>
        <p:spPr>
          <a:xfrm>
            <a:off x="1398499" y="21970855"/>
            <a:ext cx="438912" cy="438912"/>
          </a:xfrm>
          <a:prstGeom prst="ellipse">
            <a:avLst/>
          </a:prstGeom>
          <a:solidFill>
            <a:srgbClr val="29B6E6"/>
          </a:solidFill>
          <a:ln/>
        </p:spPr>
        <p:txBody>
          <a:bodyPr/>
          <a:lstStyle/>
          <a:p>
            <a:endParaRPr lang="de-DE" noProof="0" dirty="0"/>
          </a:p>
        </p:txBody>
      </p:sp>
      <p:sp>
        <p:nvSpPr>
          <p:cNvPr id="40" name="Text 38"/>
          <p:cNvSpPr txBox="1"/>
          <p:nvPr/>
        </p:nvSpPr>
        <p:spPr>
          <a:xfrm>
            <a:off x="1398499" y="21970855"/>
            <a:ext cx="438912" cy="438912"/>
          </a:xfrm>
          <a:prstGeom prst="rect">
            <a:avLst/>
          </a:prstGeom>
          <a:noFill/>
          <a:ln/>
        </p:spPr>
        <p:txBody>
          <a:bodyPr wrap="square" lIns="0" tIns="0" rIns="0" bIns="0" rtlCol="0" anchor="ctr"/>
          <a:lstStyle/>
          <a:p>
            <a:pPr marL="0" indent="0" algn="ctr">
              <a:buNone/>
            </a:pPr>
            <a:r>
              <a:rPr lang="de-DE" sz="1600" b="1" noProof="0" dirty="0">
                <a:solidFill>
                  <a:srgbClr val="FFFFFF"/>
                </a:solidFill>
                <a:latin typeface="Calibri" pitchFamily="34" charset="0"/>
                <a:ea typeface="Calibri" pitchFamily="34" charset="-122"/>
                <a:cs typeface="Calibri" pitchFamily="34" charset="-120"/>
              </a:rPr>
              <a:t>4</a:t>
            </a:r>
            <a:endParaRPr lang="de-DE" sz="1600" noProof="0" dirty="0"/>
          </a:p>
        </p:txBody>
      </p:sp>
      <p:sp>
        <p:nvSpPr>
          <p:cNvPr id="41" name="Text 39"/>
          <p:cNvSpPr txBox="1"/>
          <p:nvPr/>
        </p:nvSpPr>
        <p:spPr>
          <a:xfrm>
            <a:off x="2020291" y="21733111"/>
            <a:ext cx="4415333" cy="914400"/>
          </a:xfrm>
          <a:prstGeom prst="rect">
            <a:avLst/>
          </a:prstGeom>
          <a:noFill/>
          <a:ln/>
        </p:spPr>
        <p:txBody>
          <a:bodyPr wrap="square" lIns="0" tIns="0" rIns="0" bIns="0" rtlCol="0" anchor="ctr"/>
          <a:lstStyle/>
          <a:p>
            <a:pPr marL="0" indent="0" algn="l">
              <a:buNone/>
            </a:pPr>
            <a:r>
              <a:rPr lang="de-DE" b="1" noProof="0" dirty="0">
                <a:solidFill>
                  <a:schemeClr val="accent1">
                    <a:lumMod val="75000"/>
                  </a:schemeClr>
                </a:solidFill>
                <a:latin typeface="Times New Roman" panose="02020603050405020304" pitchFamily="18" charset="0"/>
                <a:ea typeface="Calibri" pitchFamily="34" charset="-122"/>
                <a:cs typeface="Times New Roman" panose="02020603050405020304" pitchFamily="18" charset="0"/>
              </a:rPr>
              <a:t>Home Assistant (Daten zusammenführen)</a:t>
            </a:r>
            <a:endParaRPr lang="de-DE" noProof="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2" name="Text 40"/>
          <p:cNvSpPr txBox="1"/>
          <p:nvPr/>
        </p:nvSpPr>
        <p:spPr>
          <a:xfrm>
            <a:off x="1197331" y="22601791"/>
            <a:ext cx="5329733" cy="457200"/>
          </a:xfrm>
          <a:prstGeom prst="rect">
            <a:avLst/>
          </a:prstGeom>
          <a:noFill/>
          <a:ln/>
        </p:spPr>
        <p:txBody>
          <a:bodyPr wrap="square" lIns="0" tIns="0" rIns="0" bIns="0" rtlCol="0" anchor="ctr"/>
          <a:lstStyle/>
          <a:p>
            <a:pPr marL="0" indent="0" algn="ctr">
              <a:buNone/>
            </a:pPr>
            <a:r>
              <a:rPr lang="de-DE" sz="1200" noProof="0" dirty="0">
                <a:solidFill>
                  <a:schemeClr val="accent1">
                    <a:lumMod val="75000"/>
                  </a:schemeClr>
                </a:solidFill>
                <a:latin typeface="Calibri" pitchFamily="34" charset="0"/>
                <a:ea typeface="Calibri" pitchFamily="34" charset="-122"/>
                <a:cs typeface="Calibri" pitchFamily="34" charset="-120"/>
              </a:rPr>
              <a:t>▼</a:t>
            </a:r>
            <a:endParaRPr lang="de-DE" sz="1200" noProof="0" dirty="0">
              <a:solidFill>
                <a:schemeClr val="accent1">
                  <a:lumMod val="75000"/>
                </a:schemeClr>
              </a:solidFill>
            </a:endParaRPr>
          </a:p>
        </p:txBody>
      </p:sp>
      <p:sp>
        <p:nvSpPr>
          <p:cNvPr id="43" name="Shape 41"/>
          <p:cNvSpPr/>
          <p:nvPr/>
        </p:nvSpPr>
        <p:spPr>
          <a:xfrm>
            <a:off x="1197331" y="23104711"/>
            <a:ext cx="5329733" cy="914400"/>
          </a:xfrm>
          <a:prstGeom prst="roundRect">
            <a:avLst>
              <a:gd name="adj" fmla="val 10000"/>
            </a:avLst>
          </a:prstGeom>
          <a:solidFill>
            <a:srgbClr val="E4F5FC"/>
          </a:solidFill>
          <a:ln w="12700">
            <a:solidFill>
              <a:srgbClr val="A9DEF2"/>
            </a:solidFill>
            <a:prstDash val="solid"/>
          </a:ln>
        </p:spPr>
        <p:txBody>
          <a:bodyPr/>
          <a:lstStyle/>
          <a:p>
            <a:endParaRPr lang="de-DE" noProof="0" dirty="0"/>
          </a:p>
        </p:txBody>
      </p:sp>
      <p:sp>
        <p:nvSpPr>
          <p:cNvPr id="44" name="Shape 42"/>
          <p:cNvSpPr/>
          <p:nvPr/>
        </p:nvSpPr>
        <p:spPr>
          <a:xfrm>
            <a:off x="1398499" y="23342455"/>
            <a:ext cx="438912" cy="438912"/>
          </a:xfrm>
          <a:prstGeom prst="ellipse">
            <a:avLst/>
          </a:prstGeom>
          <a:solidFill>
            <a:srgbClr val="29B6E6"/>
          </a:solidFill>
          <a:ln/>
        </p:spPr>
        <p:txBody>
          <a:bodyPr/>
          <a:lstStyle/>
          <a:p>
            <a:endParaRPr lang="de-DE" noProof="0" dirty="0"/>
          </a:p>
        </p:txBody>
      </p:sp>
      <p:sp>
        <p:nvSpPr>
          <p:cNvPr id="45" name="Text 43"/>
          <p:cNvSpPr txBox="1"/>
          <p:nvPr/>
        </p:nvSpPr>
        <p:spPr>
          <a:xfrm>
            <a:off x="1398499" y="23342455"/>
            <a:ext cx="438912" cy="438912"/>
          </a:xfrm>
          <a:prstGeom prst="rect">
            <a:avLst/>
          </a:prstGeom>
          <a:noFill/>
          <a:ln/>
        </p:spPr>
        <p:txBody>
          <a:bodyPr wrap="square" lIns="0" tIns="0" rIns="0" bIns="0" rtlCol="0" anchor="ctr"/>
          <a:lstStyle/>
          <a:p>
            <a:pPr marL="0" indent="0" algn="ctr">
              <a:buNone/>
            </a:pPr>
            <a:r>
              <a:rPr lang="de-DE" sz="1600" b="1" noProof="0" dirty="0">
                <a:solidFill>
                  <a:srgbClr val="FFFFFF"/>
                </a:solidFill>
                <a:latin typeface="Calibri" pitchFamily="34" charset="0"/>
                <a:ea typeface="Calibri" pitchFamily="34" charset="-122"/>
                <a:cs typeface="Calibri" pitchFamily="34" charset="-120"/>
              </a:rPr>
              <a:t>5</a:t>
            </a:r>
            <a:endParaRPr lang="de-DE" sz="1600" noProof="0" dirty="0"/>
          </a:p>
        </p:txBody>
      </p:sp>
      <p:sp>
        <p:nvSpPr>
          <p:cNvPr id="46" name="Text 44"/>
          <p:cNvSpPr txBox="1"/>
          <p:nvPr/>
        </p:nvSpPr>
        <p:spPr>
          <a:xfrm>
            <a:off x="2020291" y="23104711"/>
            <a:ext cx="4415333" cy="914400"/>
          </a:xfrm>
          <a:prstGeom prst="rect">
            <a:avLst/>
          </a:prstGeom>
          <a:noFill/>
          <a:ln/>
        </p:spPr>
        <p:txBody>
          <a:bodyPr wrap="square" lIns="0" tIns="0" rIns="0" bIns="0" rtlCol="0" anchor="ctr"/>
          <a:lstStyle/>
          <a:p>
            <a:pPr marL="0" indent="0" algn="l">
              <a:buNone/>
            </a:pPr>
            <a:r>
              <a:rPr lang="de-DE" b="1" noProof="0" dirty="0">
                <a:solidFill>
                  <a:schemeClr val="accent1">
                    <a:lumMod val="75000"/>
                  </a:schemeClr>
                </a:solidFill>
                <a:latin typeface="Times New Roman" panose="02020603050405020304" pitchFamily="18" charset="0"/>
                <a:ea typeface="Calibri" pitchFamily="34" charset="-122"/>
                <a:cs typeface="Times New Roman" panose="02020603050405020304" pitchFamily="18" charset="0"/>
              </a:rPr>
              <a:t>Webseite für Studierende</a:t>
            </a:r>
            <a:endParaRPr lang="de-DE" noProof="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7" name="Text 45"/>
          <p:cNvSpPr txBox="1"/>
          <p:nvPr/>
        </p:nvSpPr>
        <p:spPr>
          <a:xfrm>
            <a:off x="1197331" y="24366583"/>
            <a:ext cx="5512613" cy="411480"/>
          </a:xfrm>
          <a:prstGeom prst="rect">
            <a:avLst/>
          </a:prstGeom>
          <a:noFill/>
          <a:ln/>
        </p:spPr>
        <p:txBody>
          <a:bodyPr wrap="square" lIns="0" tIns="0" rIns="0" bIns="0" rtlCol="0" anchor="ctr"/>
          <a:lstStyle>
            <a:lvl1pPr indent="0">
              <a:buNone/>
              <a:defRPr sz="2000" b="1">
                <a:solidFill>
                  <a:srgbClr val="23272E"/>
                </a:solidFill>
                <a:latin typeface="+mj-lt"/>
                <a:ea typeface="Cambria" pitchFamily="34" charset="-122"/>
                <a:cs typeface="Cambria" pitchFamily="34" charset="-120"/>
              </a:defRPr>
            </a:lvl1pPr>
          </a:lstStyle>
          <a:p>
            <a:r>
              <a:rPr lang="de-DE" sz="2400" noProof="0" dirty="0">
                <a:solidFill>
                  <a:schemeClr val="accent1">
                    <a:lumMod val="50000"/>
                  </a:schemeClr>
                </a:solidFill>
                <a:latin typeface="Arial" panose="020B0604020202020204" pitchFamily="34" charset="0"/>
                <a:cs typeface="Arial" panose="020B0604020202020204" pitchFamily="34" charset="0"/>
              </a:rPr>
              <a:t>Übertragenes JSON je </a:t>
            </a:r>
            <a:r>
              <a:rPr lang="de-DE" sz="2400" noProof="0" dirty="0" err="1">
                <a:solidFill>
                  <a:schemeClr val="accent1">
                    <a:lumMod val="50000"/>
                  </a:schemeClr>
                </a:solidFill>
                <a:latin typeface="Arial" panose="020B0604020202020204" pitchFamily="34" charset="0"/>
                <a:cs typeface="Arial" panose="020B0604020202020204" pitchFamily="34" charset="0"/>
              </a:rPr>
              <a:t>Lernecke</a:t>
            </a:r>
            <a:r>
              <a:rPr lang="de-DE" sz="2400" noProof="0" dirty="0">
                <a:solidFill>
                  <a:schemeClr val="accent1">
                    <a:lumMod val="50000"/>
                  </a:schemeClr>
                </a:solidFill>
                <a:latin typeface="Arial" panose="020B0604020202020204" pitchFamily="34" charset="0"/>
                <a:cs typeface="Arial" panose="020B0604020202020204" pitchFamily="34" charset="0"/>
              </a:rPr>
              <a:t>:</a:t>
            </a:r>
          </a:p>
        </p:txBody>
      </p:sp>
      <p:sp>
        <p:nvSpPr>
          <p:cNvPr id="48" name="Shape 46"/>
          <p:cNvSpPr/>
          <p:nvPr/>
        </p:nvSpPr>
        <p:spPr>
          <a:xfrm>
            <a:off x="1188720" y="24895628"/>
            <a:ext cx="5512613" cy="3048435"/>
          </a:xfrm>
          <a:prstGeom prst="roundRect">
            <a:avLst>
              <a:gd name="adj" fmla="val 1659"/>
            </a:avLst>
          </a:prstGeom>
          <a:solidFill>
            <a:srgbClr val="2B2E34"/>
          </a:solidFill>
          <a:ln/>
        </p:spPr>
        <p:txBody>
          <a:bodyPr/>
          <a:lstStyle/>
          <a:p>
            <a:endParaRPr lang="de-DE" noProof="0" dirty="0"/>
          </a:p>
        </p:txBody>
      </p:sp>
      <p:sp>
        <p:nvSpPr>
          <p:cNvPr id="49" name="Text 47"/>
          <p:cNvSpPr txBox="1"/>
          <p:nvPr/>
        </p:nvSpPr>
        <p:spPr>
          <a:xfrm>
            <a:off x="1463040" y="25374600"/>
            <a:ext cx="4963973" cy="2432304"/>
          </a:xfrm>
          <a:prstGeom prst="rect">
            <a:avLst/>
          </a:prstGeom>
          <a:noFill/>
          <a:ln/>
        </p:spPr>
        <p:txBody>
          <a:bodyPr wrap="square" lIns="0" tIns="0" rIns="0" bIns="0" rtlCol="0" anchor="t"/>
          <a:lstStyle/>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a:t>
            </a:r>
            <a:r>
              <a:rPr lang="de-DE" sz="1500" noProof="0" dirty="0" err="1">
                <a:solidFill>
                  <a:schemeClr val="bg1"/>
                </a:solidFill>
                <a:latin typeface="Courier New" pitchFamily="34" charset="0"/>
                <a:ea typeface="Courier New" pitchFamily="34" charset="-122"/>
                <a:cs typeface="Courier New" pitchFamily="34" charset="-120"/>
              </a:rPr>
              <a:t>token</a:t>
            </a:r>
            <a:r>
              <a:rPr lang="de-DE" sz="1500" noProof="0" dirty="0">
                <a:solidFill>
                  <a:schemeClr val="bg1"/>
                </a:solidFill>
                <a:latin typeface="Courier New" pitchFamily="34" charset="0"/>
                <a:ea typeface="Courier New" pitchFamily="34" charset="-122"/>
                <a:cs typeface="Courier New" pitchFamily="34" charset="-120"/>
              </a:rPr>
              <a:t>": "geheim",</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a:t>
            </a:r>
            <a:r>
              <a:rPr lang="de-DE" sz="1500" noProof="0" dirty="0" err="1">
                <a:solidFill>
                  <a:schemeClr val="bg1"/>
                </a:solidFill>
                <a:latin typeface="Courier New" pitchFamily="34" charset="0"/>
                <a:ea typeface="Courier New" pitchFamily="34" charset="-122"/>
                <a:cs typeface="Courier New" pitchFamily="34" charset="-120"/>
              </a:rPr>
              <a:t>id</a:t>
            </a:r>
            <a:r>
              <a:rPr lang="de-DE" sz="1500" noProof="0" dirty="0">
                <a:solidFill>
                  <a:schemeClr val="bg1"/>
                </a:solidFill>
                <a:latin typeface="Courier New" pitchFamily="34" charset="0"/>
                <a:ea typeface="Courier New" pitchFamily="34" charset="-122"/>
                <a:cs typeface="Courier New" pitchFamily="34" charset="-120"/>
              </a:rPr>
              <a:t>": "1B131",</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"platz1": 1,</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"platz2": 0,</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"platz3": 1,</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  "platz4": 0</a:t>
            </a:r>
            <a:endParaRPr lang="de-DE" sz="1500" noProof="0" dirty="0">
              <a:solidFill>
                <a:schemeClr val="bg1"/>
              </a:solidFill>
            </a:endParaRPr>
          </a:p>
          <a:p>
            <a:pPr marL="0" indent="0" algn="l">
              <a:lnSpc>
                <a:spcPct val="115000"/>
              </a:lnSpc>
              <a:buNone/>
            </a:pPr>
            <a:r>
              <a:rPr lang="de-DE" sz="1500" noProof="0" dirty="0">
                <a:solidFill>
                  <a:schemeClr val="bg1"/>
                </a:solidFill>
                <a:latin typeface="Courier New" pitchFamily="34" charset="0"/>
                <a:ea typeface="Courier New" pitchFamily="34" charset="-122"/>
                <a:cs typeface="Courier New" pitchFamily="34" charset="-120"/>
              </a:rPr>
              <a:t>}</a:t>
            </a:r>
            <a:endParaRPr lang="de-DE" sz="1500" noProof="0" dirty="0">
              <a:solidFill>
                <a:schemeClr val="bg1"/>
              </a:solidFill>
            </a:endParaRPr>
          </a:p>
        </p:txBody>
      </p:sp>
      <p:sp>
        <p:nvSpPr>
          <p:cNvPr id="50" name="Shape 48"/>
          <p:cNvSpPr/>
          <p:nvPr/>
        </p:nvSpPr>
        <p:spPr>
          <a:xfrm>
            <a:off x="7570013" y="4769059"/>
            <a:ext cx="6244133" cy="8412480"/>
          </a:xfrm>
          <a:prstGeom prst="roundRect">
            <a:avLst>
              <a:gd name="adj" fmla="val 2050"/>
            </a:avLst>
          </a:prstGeom>
          <a:solidFill>
            <a:srgbClr val="FFFFFF"/>
          </a:solidFill>
          <a:ln w="19050">
            <a:solidFill>
              <a:srgbClr val="29B6E6"/>
            </a:solidFill>
            <a:prstDash val="solid"/>
          </a:ln>
        </p:spPr>
        <p:txBody>
          <a:bodyPr/>
          <a:lstStyle/>
          <a:p>
            <a:endParaRPr lang="de-DE" noProof="0" dirty="0"/>
          </a:p>
        </p:txBody>
      </p:sp>
      <p:sp>
        <p:nvSpPr>
          <p:cNvPr id="53" name="Text 51"/>
          <p:cNvSpPr txBox="1"/>
          <p:nvPr/>
        </p:nvSpPr>
        <p:spPr>
          <a:xfrm>
            <a:off x="7935773" y="4910139"/>
            <a:ext cx="4899965" cy="640080"/>
          </a:xfrm>
          <a:prstGeom prst="rect">
            <a:avLst/>
          </a:prstGeom>
          <a:noFill/>
          <a:ln/>
        </p:spPr>
        <p:txBody>
          <a:bodyPr wrap="square" lIns="0" tIns="0" rIns="0" bIns="0" rtlCol="0" anchor="ctr"/>
          <a:lstStyle>
            <a:lvl1pPr indent="0">
              <a:buNone/>
              <a:defRPr sz="2300" b="1">
                <a:solidFill>
                  <a:srgbClr val="23272E"/>
                </a:solidFill>
                <a:latin typeface="+mj-lt"/>
                <a:ea typeface="Cambria" pitchFamily="34" charset="-122"/>
                <a:cs typeface="Cambria" pitchFamily="34" charset="-120"/>
              </a:defRPr>
            </a:lvl1pPr>
          </a:lstStyle>
          <a:p>
            <a:r>
              <a:rPr lang="de-DE" sz="2800" noProof="0" dirty="0">
                <a:solidFill>
                  <a:schemeClr val="accent1">
                    <a:lumMod val="50000"/>
                  </a:schemeClr>
                </a:solidFill>
                <a:latin typeface="Arial" panose="020B0604020202020204" pitchFamily="34" charset="0"/>
                <a:cs typeface="Arial" panose="020B0604020202020204" pitchFamily="34" charset="0"/>
              </a:rPr>
              <a:t>3. Kernlogik</a:t>
            </a:r>
          </a:p>
        </p:txBody>
      </p:sp>
      <p:sp>
        <p:nvSpPr>
          <p:cNvPr id="56" name="Text 54"/>
          <p:cNvSpPr txBox="1"/>
          <p:nvPr/>
        </p:nvSpPr>
        <p:spPr>
          <a:xfrm>
            <a:off x="9251899" y="6035040"/>
            <a:ext cx="548640" cy="914400"/>
          </a:xfrm>
          <a:prstGeom prst="rect">
            <a:avLst/>
          </a:prstGeom>
          <a:noFill/>
          <a:ln/>
        </p:spPr>
        <p:txBody>
          <a:bodyPr wrap="square" lIns="0" tIns="0" rIns="0" bIns="0" rtlCol="0" anchor="ctr"/>
          <a:lstStyle/>
          <a:p>
            <a:pPr marL="0" indent="0" algn="ctr">
              <a:buNone/>
            </a:pPr>
            <a:endParaRPr lang="de-DE" sz="2200" noProof="0" dirty="0"/>
          </a:p>
        </p:txBody>
      </p:sp>
      <p:sp>
        <p:nvSpPr>
          <p:cNvPr id="59" name="Text 57"/>
          <p:cNvSpPr txBox="1"/>
          <p:nvPr/>
        </p:nvSpPr>
        <p:spPr>
          <a:xfrm>
            <a:off x="11583619" y="6035040"/>
            <a:ext cx="548640" cy="914400"/>
          </a:xfrm>
          <a:prstGeom prst="rect">
            <a:avLst/>
          </a:prstGeom>
          <a:noFill/>
          <a:ln/>
        </p:spPr>
        <p:txBody>
          <a:bodyPr wrap="square" lIns="0" tIns="0" rIns="0" bIns="0" rtlCol="0" anchor="ctr"/>
          <a:lstStyle/>
          <a:p>
            <a:pPr marL="0" indent="0" algn="ctr">
              <a:buNone/>
            </a:pPr>
            <a:endParaRPr lang="de-DE" sz="2200" noProof="0" dirty="0"/>
          </a:p>
        </p:txBody>
      </p:sp>
      <p:sp>
        <p:nvSpPr>
          <p:cNvPr id="62" name="Text 60"/>
          <p:cNvSpPr txBox="1"/>
          <p:nvPr/>
        </p:nvSpPr>
        <p:spPr>
          <a:xfrm>
            <a:off x="7935505" y="7764564"/>
            <a:ext cx="5512613" cy="457200"/>
          </a:xfrm>
          <a:prstGeom prst="rect">
            <a:avLst/>
          </a:prstGeom>
          <a:noFill/>
          <a:ln/>
        </p:spPr>
        <p:txBody>
          <a:bodyPr wrap="square" lIns="0" tIns="0" rIns="0" bIns="0" rtlCol="0" anchor="t"/>
          <a:lstStyle/>
          <a:p>
            <a:pPr marL="0" indent="0" algn="ctr">
              <a:buNone/>
            </a:pPr>
            <a:r>
              <a:rPr lang="de-DE" sz="1400" i="1" noProof="0" dirty="0">
                <a:solidFill>
                  <a:srgbClr val="5F646B"/>
                </a:solidFill>
                <a:latin typeface="Times New Roman" panose="02020603050405020304" pitchFamily="18" charset="0"/>
                <a:ea typeface="Calibri" pitchFamily="34" charset="-122"/>
                <a:cs typeface="Times New Roman" panose="02020603050405020304" pitchFamily="18" charset="0"/>
              </a:rPr>
              <a:t>Zustandsdiagramm je Sitzplatz mit drei möglichen Zuständen</a:t>
            </a:r>
            <a:r>
              <a:rPr lang="de-DE" sz="1400" i="1" noProof="0" dirty="0">
                <a:solidFill>
                  <a:srgbClr val="5F646B"/>
                </a:solidFill>
                <a:latin typeface="Calibri" pitchFamily="34" charset="0"/>
                <a:ea typeface="Calibri" pitchFamily="34" charset="-122"/>
                <a:cs typeface="Calibri" pitchFamily="34" charset="-120"/>
              </a:rPr>
              <a:t>.</a:t>
            </a:r>
            <a:endParaRPr lang="de-DE" sz="1400" noProof="0" dirty="0"/>
          </a:p>
        </p:txBody>
      </p:sp>
      <p:sp>
        <p:nvSpPr>
          <p:cNvPr id="63" name="Text 61"/>
          <p:cNvSpPr txBox="1"/>
          <p:nvPr/>
        </p:nvSpPr>
        <p:spPr>
          <a:xfrm>
            <a:off x="7935773" y="8305800"/>
            <a:ext cx="5512613" cy="2743200"/>
          </a:xfrm>
          <a:prstGeom prst="rect">
            <a:avLst/>
          </a:prstGeom>
          <a:noFill/>
          <a:ln/>
        </p:spPr>
        <p:txBody>
          <a:bodyPr wrap="square" lIns="0" tIns="0" rIns="0" bIns="0" rtlCol="0" anchor="t"/>
          <a:lstStyle/>
          <a:p>
            <a:pPr marL="0" indent="0" algn="l">
              <a:lnSpc>
                <a:spcPct val="112000"/>
              </a:lnSpc>
              <a:spcAft>
                <a:spcPts val="600"/>
              </a:spcAft>
              <a:buNone/>
            </a:pPr>
            <a:r>
              <a:rPr lang="de-DE" b="1" dirty="0">
                <a:latin typeface="Times New Roman" panose="02020603050405020304" pitchFamily="18" charset="0"/>
                <a:cs typeface="Times New Roman" panose="02020603050405020304" pitchFamily="18" charset="0"/>
              </a:rPr>
              <a:t>Personenerkennung:</a:t>
            </a:r>
            <a:r>
              <a:rPr lang="de-DE" dirty="0">
                <a:latin typeface="Times New Roman" panose="02020603050405020304" pitchFamily="18" charset="0"/>
                <a:cs typeface="Times New Roman" panose="02020603050405020304" pitchFamily="18" charset="0"/>
              </a:rPr>
              <a:t> </a:t>
            </a:r>
            <a:r>
              <a:rPr lang="de-DE" sz="1600" dirty="0">
                <a:latin typeface="Times New Roman" panose="02020603050405020304" pitchFamily="18" charset="0"/>
                <a:cs typeface="Times New Roman" panose="02020603050405020304" pitchFamily="18" charset="0"/>
              </a:rPr>
              <a:t>Menschen geben Infrarotstrahlung ab, welche mit dem IR-Sensor gemessen werden kann. Um eine Falscherkennung (beispielsweise durch die Sonne) zu verhindern, wird zusätzlich ausgewertet, ob sich die Temperatur gegenüber der letzten Messung genug geändert hat. Es müssen also zwei Bedingungen erfüllt sein, um eine Zone als „belegt“ zu markieren. Eine stillsitzende Person erzeugt zwar Wärme, jedoch verändert sich diese wenig. </a:t>
            </a:r>
            <a:br>
              <a:rPr lang="de-DE" sz="1600" dirty="0">
                <a:latin typeface="Times New Roman" panose="02020603050405020304" pitchFamily="18" charset="0"/>
                <a:cs typeface="Times New Roman" panose="02020603050405020304" pitchFamily="18" charset="0"/>
              </a:rPr>
            </a:br>
            <a:r>
              <a:rPr lang="de-DE" sz="1600" dirty="0">
                <a:latin typeface="Times New Roman" panose="02020603050405020304" pitchFamily="18" charset="0"/>
                <a:cs typeface="Times New Roman" panose="02020603050405020304" pitchFamily="18" charset="0"/>
              </a:rPr>
              <a:t>Damit eine Zone nicht sofort frei wird, wenn mal keine Bewegung festgestellt werden kann, gibt es einen Nachlauf, welcher dekrementiert wird.</a:t>
            </a:r>
          </a:p>
          <a:p>
            <a:pPr marL="0" indent="0" algn="l">
              <a:lnSpc>
                <a:spcPct val="112000"/>
              </a:lnSpc>
              <a:spcAft>
                <a:spcPts val="600"/>
              </a:spcAft>
              <a:buNone/>
            </a:pPr>
            <a:r>
              <a:rPr lang="de-DE" sz="1600" dirty="0">
                <a:latin typeface="Times New Roman" panose="02020603050405020304" pitchFamily="18" charset="0"/>
                <a:cs typeface="Times New Roman" panose="02020603050405020304" pitchFamily="18" charset="0"/>
              </a:rPr>
              <a:t>Die Realisierung und Prüfung der Bedingungen wird mittels einer Zustandsmaschine realisiert.</a:t>
            </a:r>
            <a:endParaRPr lang="de-DE" sz="1600" b="1" noProof="0" dirty="0">
              <a:latin typeface="Times New Roman" panose="02020603050405020304" pitchFamily="18" charset="0"/>
              <a:cs typeface="Times New Roman" panose="02020603050405020304" pitchFamily="18" charset="0"/>
            </a:endParaRPr>
          </a:p>
        </p:txBody>
      </p:sp>
      <p:sp>
        <p:nvSpPr>
          <p:cNvPr id="64" name="Shape 62"/>
          <p:cNvSpPr/>
          <p:nvPr/>
        </p:nvSpPr>
        <p:spPr>
          <a:xfrm>
            <a:off x="7570013" y="13670280"/>
            <a:ext cx="6244133" cy="14730984"/>
          </a:xfrm>
          <a:prstGeom prst="roundRect">
            <a:avLst>
              <a:gd name="adj" fmla="val 2050"/>
            </a:avLst>
          </a:prstGeom>
          <a:solidFill>
            <a:srgbClr val="FFFFFF"/>
          </a:solidFill>
          <a:ln w="19050">
            <a:solidFill>
              <a:srgbClr val="00B0F0"/>
            </a:solidFill>
            <a:prstDash val="solid"/>
          </a:ln>
        </p:spPr>
        <p:txBody>
          <a:bodyPr/>
          <a:lstStyle/>
          <a:p>
            <a:endParaRPr lang="de-DE" noProof="0" dirty="0"/>
          </a:p>
        </p:txBody>
      </p:sp>
      <p:sp>
        <p:nvSpPr>
          <p:cNvPr id="67" name="Text 65"/>
          <p:cNvSpPr txBox="1"/>
          <p:nvPr/>
        </p:nvSpPr>
        <p:spPr>
          <a:xfrm>
            <a:off x="7935773" y="13883110"/>
            <a:ext cx="4899965" cy="640080"/>
          </a:xfrm>
          <a:prstGeom prst="rect">
            <a:avLst/>
          </a:prstGeom>
          <a:noFill/>
          <a:ln/>
        </p:spPr>
        <p:txBody>
          <a:bodyPr wrap="square" lIns="0" tIns="0" rIns="0" bIns="0" rtlCol="0" anchor="ctr"/>
          <a:lstStyle>
            <a:lvl1pPr indent="0">
              <a:buNone/>
              <a:defRPr sz="2300" b="1">
                <a:solidFill>
                  <a:srgbClr val="23272E"/>
                </a:solidFill>
                <a:latin typeface="+mj-lt"/>
                <a:ea typeface="Cambria" pitchFamily="34" charset="-122"/>
                <a:cs typeface="Cambria" pitchFamily="34" charset="-120"/>
              </a:defRPr>
            </a:lvl1pPr>
          </a:lstStyle>
          <a:p>
            <a:r>
              <a:rPr lang="de-DE" sz="2800" noProof="0" dirty="0">
                <a:solidFill>
                  <a:schemeClr val="accent1">
                    <a:lumMod val="50000"/>
                  </a:schemeClr>
                </a:solidFill>
                <a:latin typeface="Arial" panose="020B0604020202020204" pitchFamily="34" charset="0"/>
                <a:cs typeface="Arial" panose="020B0604020202020204" pitchFamily="34" charset="0"/>
              </a:rPr>
              <a:t>4. Ergebnisse</a:t>
            </a:r>
          </a:p>
        </p:txBody>
      </p:sp>
      <p:sp>
        <p:nvSpPr>
          <p:cNvPr id="68" name="Text 66"/>
          <p:cNvSpPr txBox="1"/>
          <p:nvPr/>
        </p:nvSpPr>
        <p:spPr>
          <a:xfrm>
            <a:off x="7935773" y="14585741"/>
            <a:ext cx="5512613" cy="3291840"/>
          </a:xfrm>
          <a:prstGeom prst="rect">
            <a:avLst/>
          </a:prstGeom>
          <a:noFill/>
          <a:ln/>
        </p:spPr>
        <p:txBody>
          <a:bodyPr wrap="square" lIns="0" tIns="0" rIns="0" bIns="0" rtlCol="0" anchor="t"/>
          <a:lstStyle/>
          <a:p>
            <a:pPr>
              <a:lnSpc>
                <a:spcPct val="114000"/>
              </a:lnSpc>
            </a:pPr>
            <a:r>
              <a:rPr lang="de-DE" b="1" noProof="0" dirty="0">
                <a:solidFill>
                  <a:schemeClr val="accent1">
                    <a:lumMod val="75000"/>
                  </a:schemeClr>
                </a:solidFill>
                <a:latin typeface="Arial" panose="020B0604020202020204" pitchFamily="34" charset="0"/>
                <a:ea typeface="Calibri" pitchFamily="34" charset="-122"/>
                <a:cs typeface="Arial" panose="020B0604020202020204" pitchFamily="34" charset="0"/>
              </a:rPr>
              <a:t>Das System läuft im Echtbetrieb: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Im Gebäude 1B.1.31 des Standorts Linden-Fischerhof wird live unter folgendem Link die Sitzplatzbelegung angezeigt (oder oben rechts auf dem QR-Code): </a:t>
            </a:r>
          </a:p>
          <a:p>
            <a:pPr>
              <a:lnSpc>
                <a:spcPct val="114000"/>
              </a:lnSpc>
            </a:pPr>
            <a:b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br>
            <a:r>
              <a:rPr lang="de-DE" sz="2000" b="1" noProof="0" dirty="0">
                <a:solidFill>
                  <a:schemeClr val="accent1">
                    <a:lumMod val="75000"/>
                  </a:schemeClr>
                </a:solidFill>
                <a:latin typeface="Arial" panose="020B0604020202020204" pitchFamily="34" charset="0"/>
                <a:ea typeface="Calibri" pitchFamily="34" charset="-122"/>
                <a:cs typeface="Arial" panose="020B0604020202020204" pitchFamily="34" charset="0"/>
              </a:rPr>
              <a:t>https://hidd.christianwill.de/local/index.html</a:t>
            </a:r>
          </a:p>
          <a:p>
            <a:pPr>
              <a:lnSpc>
                <a:spcPct val="114000"/>
              </a:lnSpc>
            </a:pPr>
            <a:endParaRPr lang="de-DE" sz="1500" noProof="0" dirty="0">
              <a:solidFill>
                <a:srgbClr val="23272E"/>
              </a:solidFill>
              <a:latin typeface="Arial" panose="020B0604020202020204" pitchFamily="34" charset="0"/>
              <a:ea typeface="Calibri" pitchFamily="34" charset="-122"/>
              <a:cs typeface="Arial" panose="020B0604020202020204" pitchFamily="34" charset="0"/>
            </a:endParaRPr>
          </a:p>
          <a:p>
            <a:pPr>
              <a:lnSpc>
                <a:spcPct val="114000"/>
              </a:lnSpc>
            </a:pP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Die Webseite ist für alle in Echtzeit abrufbar. Sie zeigt die </a:t>
            </a:r>
            <a:r>
              <a:rPr lang="de-DE" sz="1600" noProof="0" dirty="0" err="1">
                <a:solidFill>
                  <a:srgbClr val="23272E"/>
                </a:solidFill>
                <a:latin typeface="Times New Roman" panose="02020603050405020304" pitchFamily="18" charset="0"/>
                <a:ea typeface="Calibri" pitchFamily="34" charset="-122"/>
                <a:cs typeface="Times New Roman" panose="02020603050405020304" pitchFamily="18" charset="0"/>
              </a:rPr>
              <a:t>Lernecke</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 von oben und visualisiert die Belegung farblich als auch in Schriftform. Sollte die Erkennung ausfallen, werden die Plätze auf der Webseite automatisch nach fünf Minuten grau und mit “Keine Daten” gekennzeichnet.</a:t>
            </a:r>
            <a:endParaRPr lang="de-DE" sz="1600" noProof="0" dirty="0">
              <a:latin typeface="Times New Roman" panose="02020603050405020304" pitchFamily="18" charset="0"/>
              <a:cs typeface="Times New Roman" panose="02020603050405020304" pitchFamily="18" charset="0"/>
            </a:endParaRPr>
          </a:p>
        </p:txBody>
      </p:sp>
      <p:sp>
        <p:nvSpPr>
          <p:cNvPr id="81" name="Text 79"/>
          <p:cNvSpPr txBox="1"/>
          <p:nvPr/>
        </p:nvSpPr>
        <p:spPr>
          <a:xfrm>
            <a:off x="7935773" y="18516600"/>
            <a:ext cx="5512613" cy="9518904"/>
          </a:xfrm>
          <a:prstGeom prst="rect">
            <a:avLst/>
          </a:prstGeom>
          <a:noFill/>
          <a:ln/>
        </p:spPr>
        <p:txBody>
          <a:bodyPr wrap="square" lIns="0" tIns="0" rIns="0" bIns="0" rtlCol="0" anchor="ctr"/>
          <a:lstStyle/>
          <a:p>
            <a:pPr marL="0" indent="0" algn="ctr">
              <a:lnSpc>
                <a:spcPct val="120000"/>
              </a:lnSpc>
              <a:buNone/>
            </a:pPr>
            <a:r>
              <a:rPr lang="de-DE" sz="1400" noProof="0" dirty="0">
                <a:solidFill>
                  <a:srgbClr val="5F646B"/>
                </a:solidFill>
                <a:latin typeface="Calibri" pitchFamily="34" charset="0"/>
                <a:ea typeface="Calibri" pitchFamily="34" charset="-122"/>
                <a:cs typeface="Calibri" pitchFamily="34" charset="-120"/>
              </a:rPr>
              <a:t>[ Platzhalter: Screenshot der Live-Website</a:t>
            </a:r>
            <a:endParaRPr lang="de-DE" sz="1400" noProof="0" dirty="0"/>
          </a:p>
          <a:p>
            <a:pPr marL="0" indent="0" algn="ctr">
              <a:lnSpc>
                <a:spcPct val="120000"/>
              </a:lnSpc>
              <a:buNone/>
            </a:pPr>
            <a:r>
              <a:rPr lang="de-DE" sz="1400" noProof="0" dirty="0">
                <a:solidFill>
                  <a:srgbClr val="5F646B"/>
                </a:solidFill>
                <a:latin typeface="Calibri" pitchFamily="34" charset="0"/>
                <a:ea typeface="Calibri" pitchFamily="34" charset="-122"/>
                <a:cs typeface="Calibri" pitchFamily="34" charset="-120"/>
              </a:rPr>
              <a:t>(Geländekarte · Burger-Menü · Belegung je Standort) ]</a:t>
            </a:r>
            <a:endParaRPr lang="de-DE" sz="1400" noProof="0" dirty="0"/>
          </a:p>
        </p:txBody>
      </p:sp>
      <p:sp>
        <p:nvSpPr>
          <p:cNvPr id="82" name="Shape 80"/>
          <p:cNvSpPr/>
          <p:nvPr/>
        </p:nvSpPr>
        <p:spPr>
          <a:xfrm>
            <a:off x="14317066" y="4800600"/>
            <a:ext cx="6244133" cy="2651760"/>
          </a:xfrm>
          <a:prstGeom prst="roundRect">
            <a:avLst>
              <a:gd name="adj" fmla="val 4828"/>
            </a:avLst>
          </a:prstGeom>
          <a:solidFill>
            <a:srgbClr val="E7F5E6"/>
          </a:solidFill>
          <a:ln w="19050">
            <a:solidFill>
              <a:srgbClr val="00B0F0"/>
            </a:solidFill>
            <a:prstDash val="solid"/>
          </a:ln>
        </p:spPr>
        <p:txBody>
          <a:bodyPr/>
          <a:lstStyle/>
          <a:p>
            <a:endParaRPr lang="de-DE" noProof="0" dirty="0"/>
          </a:p>
        </p:txBody>
      </p:sp>
      <p:sp>
        <p:nvSpPr>
          <p:cNvPr id="85" name="Text 83"/>
          <p:cNvSpPr txBox="1"/>
          <p:nvPr/>
        </p:nvSpPr>
        <p:spPr>
          <a:xfrm>
            <a:off x="14682826" y="4906887"/>
            <a:ext cx="4899965"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5. Datenschutz</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86" name="Text 84"/>
          <p:cNvSpPr txBox="1"/>
          <p:nvPr/>
        </p:nvSpPr>
        <p:spPr>
          <a:xfrm>
            <a:off x="14637106" y="5574792"/>
            <a:ext cx="5512613" cy="1371600"/>
          </a:xfrm>
          <a:prstGeom prst="rect">
            <a:avLst/>
          </a:prstGeom>
          <a:noFill/>
          <a:ln/>
        </p:spPr>
        <p:txBody>
          <a:bodyPr wrap="square" lIns="0" tIns="0" rIns="0" bIns="0" rtlCol="0" anchor="t"/>
          <a:lstStyle/>
          <a:p>
            <a:pPr marL="0" indent="0" algn="l">
              <a:lnSpc>
                <a:spcPct val="112000"/>
              </a:lnSpc>
              <a:spcAft>
                <a:spcPts val="600"/>
              </a:spcAft>
              <a:buNone/>
            </a:pP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Ein 8×8-Pixel-Wärmebild (64 Werte) macht Personen technisch nicht identifizierbar. Erkannt wird nur Anwesenheit, nicht wer anwesend ist</a:t>
            </a:r>
            <a:r>
              <a:rPr lang="de-DE" sz="1500" noProof="0" dirty="0">
                <a:solidFill>
                  <a:srgbClr val="23272E"/>
                </a:solidFill>
                <a:latin typeface="Calibri" pitchFamily="34" charset="0"/>
                <a:ea typeface="Calibri" pitchFamily="34" charset="-122"/>
                <a:cs typeface="Calibri" pitchFamily="34" charset="-120"/>
              </a:rPr>
              <a:t>.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Zusätzlich wird die Auswertung direkt am ESP32 durchgeführt, veröffentlicht wird nur eine Aussage über die Belegung</a:t>
            </a:r>
            <a:r>
              <a:rPr lang="de-DE" sz="1500" noProof="0" dirty="0">
                <a:solidFill>
                  <a:srgbClr val="23272E"/>
                </a:solidFill>
                <a:latin typeface="Times New Roman" panose="02020603050405020304" pitchFamily="18" charset="0"/>
                <a:ea typeface="Calibri" pitchFamily="34" charset="-122"/>
                <a:cs typeface="Times New Roman" panose="02020603050405020304" pitchFamily="18" charset="0"/>
              </a:rPr>
              <a:t>.</a:t>
            </a:r>
            <a:endParaRPr lang="de-DE" sz="1500" noProof="0" dirty="0"/>
          </a:p>
        </p:txBody>
      </p:sp>
      <p:sp>
        <p:nvSpPr>
          <p:cNvPr id="87" name="Shape 85"/>
          <p:cNvSpPr/>
          <p:nvPr/>
        </p:nvSpPr>
        <p:spPr>
          <a:xfrm>
            <a:off x="14317066" y="7909560"/>
            <a:ext cx="6244133" cy="4023360"/>
          </a:xfrm>
          <a:prstGeom prst="roundRect">
            <a:avLst>
              <a:gd name="adj" fmla="val 3182"/>
            </a:avLst>
          </a:prstGeom>
          <a:solidFill>
            <a:srgbClr val="FFFFFF"/>
          </a:solidFill>
          <a:ln w="19050">
            <a:solidFill>
              <a:srgbClr val="00B0F0"/>
            </a:solidFill>
            <a:prstDash val="solid"/>
          </a:ln>
        </p:spPr>
        <p:txBody>
          <a:bodyPr/>
          <a:lstStyle/>
          <a:p>
            <a:endParaRPr lang="de-DE" noProof="0" dirty="0"/>
          </a:p>
        </p:txBody>
      </p:sp>
      <p:sp>
        <p:nvSpPr>
          <p:cNvPr id="90" name="Text 88"/>
          <p:cNvSpPr txBox="1"/>
          <p:nvPr/>
        </p:nvSpPr>
        <p:spPr>
          <a:xfrm>
            <a:off x="14637106" y="8055877"/>
            <a:ext cx="5769254"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6. Grenzen &amp; Herausforderungen</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91" name="Text 89"/>
          <p:cNvSpPr txBox="1"/>
          <p:nvPr/>
        </p:nvSpPr>
        <p:spPr>
          <a:xfrm>
            <a:off x="14637105" y="8727948"/>
            <a:ext cx="5512613" cy="2651760"/>
          </a:xfrm>
          <a:prstGeom prst="rect">
            <a:avLst/>
          </a:prstGeom>
          <a:noFill/>
          <a:ln/>
        </p:spPr>
        <p:txBody>
          <a:bodyPr wrap="square" lIns="0" tIns="0" rIns="0" bIns="0" rtlCol="0" anchor="t"/>
          <a:lstStyle/>
          <a:p>
            <a:pPr marL="285750" indent="-285750" algn="l">
              <a:lnSpc>
                <a:spcPct val="112000"/>
              </a:lnSpc>
              <a:spcAft>
                <a:spcPts val="600"/>
              </a:spcAft>
              <a:buFont typeface="Arial" panose="020B0604020202020204" pitchFamily="34" charset="0"/>
              <a:buChar char="•"/>
            </a:pP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Sehr still sitzende Personen zuverlässig von anderen Wärmequellen unterscheiden
Unterbrechung der Erkennung, beispielsweise durch Toilettengänge
Zwei Personen auf einer Bank trennen
Kalibrierung der </a:t>
            </a:r>
            <a:r>
              <a:rPr lang="de-DE" sz="1600" noProof="0" dirty="0" err="1">
                <a:solidFill>
                  <a:srgbClr val="23272E"/>
                </a:solidFill>
                <a:latin typeface="Times New Roman" panose="02020603050405020304" pitchFamily="18" charset="0"/>
                <a:ea typeface="Calibri" pitchFamily="34" charset="-122"/>
                <a:cs typeface="Times New Roman" panose="02020603050405020304" pitchFamily="18" charset="0"/>
              </a:rPr>
              <a:t>Entprell</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-Zeiten je Sitzgeometrie</a:t>
            </a:r>
          </a:p>
        </p:txBody>
      </p:sp>
      <p:sp>
        <p:nvSpPr>
          <p:cNvPr id="92" name="Shape 90"/>
          <p:cNvSpPr/>
          <p:nvPr/>
        </p:nvSpPr>
        <p:spPr>
          <a:xfrm>
            <a:off x="14317066" y="12390120"/>
            <a:ext cx="6244133" cy="4572000"/>
          </a:xfrm>
          <a:prstGeom prst="roundRect">
            <a:avLst>
              <a:gd name="adj" fmla="val 2800"/>
            </a:avLst>
          </a:prstGeom>
          <a:solidFill>
            <a:srgbClr val="E4F5FC"/>
          </a:solidFill>
          <a:ln w="19050">
            <a:solidFill>
              <a:srgbClr val="00B0F0"/>
            </a:solidFill>
            <a:prstDash val="solid"/>
          </a:ln>
        </p:spPr>
        <p:txBody>
          <a:bodyPr/>
          <a:lstStyle/>
          <a:p>
            <a:endParaRPr lang="de-DE" noProof="0" dirty="0"/>
          </a:p>
        </p:txBody>
      </p:sp>
      <p:sp>
        <p:nvSpPr>
          <p:cNvPr id="95" name="Text 93"/>
          <p:cNvSpPr txBox="1"/>
          <p:nvPr/>
        </p:nvSpPr>
        <p:spPr>
          <a:xfrm>
            <a:off x="14637105" y="12641580"/>
            <a:ext cx="4899965"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7. Fazit &amp; Ausblick</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96" name="Text 94"/>
          <p:cNvSpPr txBox="1"/>
          <p:nvPr/>
        </p:nvSpPr>
        <p:spPr>
          <a:xfrm>
            <a:off x="14682826" y="13377436"/>
            <a:ext cx="5512613" cy="3017520"/>
          </a:xfrm>
          <a:prstGeom prst="rect">
            <a:avLst/>
          </a:prstGeom>
          <a:noFill/>
          <a:ln/>
        </p:spPr>
        <p:txBody>
          <a:bodyPr wrap="square" lIns="0" tIns="0" rIns="0" bIns="0" rtlCol="0" anchor="t"/>
          <a:lstStyle/>
          <a:p>
            <a:pPr marL="0" indent="0" algn="l">
              <a:lnSpc>
                <a:spcPct val="112000"/>
              </a:lnSpc>
              <a:spcAft>
                <a:spcPts val="600"/>
              </a:spcAft>
              <a:buNone/>
            </a:pPr>
            <a:r>
              <a:rPr lang="de-DE" b="1" dirty="0" err="1">
                <a:solidFill>
                  <a:srgbClr val="23272E"/>
                </a:solidFill>
                <a:latin typeface="Arial" panose="020B0604020202020204" pitchFamily="34" charset="0"/>
                <a:ea typeface="Calibri" pitchFamily="34" charset="-122"/>
                <a:cs typeface="Arial" panose="020B0604020202020204" pitchFamily="34" charset="0"/>
              </a:rPr>
              <a:t>Lessons</a:t>
            </a:r>
            <a:r>
              <a:rPr lang="de-DE" b="1" dirty="0">
                <a:solidFill>
                  <a:srgbClr val="23272E"/>
                </a:solidFill>
                <a:latin typeface="Arial" panose="020B0604020202020204" pitchFamily="34" charset="0"/>
                <a:ea typeface="Calibri" pitchFamily="34" charset="-122"/>
                <a:cs typeface="Arial" panose="020B0604020202020204" pitchFamily="34" charset="0"/>
              </a:rPr>
              <a:t> Learned</a:t>
            </a:r>
            <a:r>
              <a:rPr lang="de-DE" b="1" noProof="0" dirty="0">
                <a:solidFill>
                  <a:srgbClr val="23272E"/>
                </a:solidFill>
                <a:latin typeface="Arial" panose="020B0604020202020204" pitchFamily="34" charset="0"/>
                <a:ea typeface="Calibri" pitchFamily="34" charset="-122"/>
                <a:cs typeface="Arial" panose="020B0604020202020204" pitchFamily="34" charset="0"/>
              </a:rPr>
              <a:t>: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Ein einfaches 8×8-Pixel Wärmebild genügt für eine verlässliche, datenschutzfreundliche Belegungsanzeige – nachweislich im Echtbetrieb.
</a:t>
            </a:r>
            <a:r>
              <a:rPr lang="de-DE" b="1" noProof="0" dirty="0">
                <a:solidFill>
                  <a:srgbClr val="23272E"/>
                </a:solidFill>
                <a:latin typeface="Arial" panose="020B0604020202020204" pitchFamily="34" charset="0"/>
                <a:ea typeface="Calibri" pitchFamily="34" charset="-122"/>
                <a:cs typeface="Arial" panose="020B0604020202020204" pitchFamily="34" charset="0"/>
              </a:rPr>
              <a:t>Ausblick: </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Eine zuverlässigere Erkennung, welche stillsitzende Personen besser erkennt. Eventuell </a:t>
            </a:r>
            <a:r>
              <a:rPr lang="de-DE" sz="1600" noProof="0" dirty="0" err="1">
                <a:solidFill>
                  <a:srgbClr val="23272E"/>
                </a:solidFill>
                <a:latin typeface="Times New Roman" panose="02020603050405020304" pitchFamily="18" charset="0"/>
                <a:ea typeface="Calibri" pitchFamily="34" charset="-122"/>
                <a:cs typeface="Times New Roman" panose="02020603050405020304" pitchFamily="18" charset="0"/>
              </a:rPr>
              <a:t>Machine</a:t>
            </a:r>
            <a:r>
              <a:rPr lang="de-DE" sz="1600" noProof="0" dirty="0">
                <a:solidFill>
                  <a:srgbClr val="23272E"/>
                </a:solidFill>
                <a:latin typeface="Times New Roman" panose="02020603050405020304" pitchFamily="18" charset="0"/>
                <a:ea typeface="Calibri" pitchFamily="34" charset="-122"/>
                <a:cs typeface="Times New Roman" panose="02020603050405020304" pitchFamily="18" charset="0"/>
              </a:rPr>
              <a:t>-Learning als Methode der Erkennung. Anbindung mehrerer Lernecken, um als Informationsquelle für Studierende zu dienen. Datenhistorie, um Auslastung über der Zeit verteilt zu sehen.</a:t>
            </a:r>
            <a:endParaRPr lang="de-DE" sz="1600" noProof="0" dirty="0">
              <a:latin typeface="Times New Roman" panose="02020603050405020304" pitchFamily="18" charset="0"/>
              <a:cs typeface="Times New Roman" panose="02020603050405020304" pitchFamily="18" charset="0"/>
            </a:endParaRPr>
          </a:p>
        </p:txBody>
      </p:sp>
      <p:sp>
        <p:nvSpPr>
          <p:cNvPr id="97" name="Shape 95"/>
          <p:cNvSpPr/>
          <p:nvPr/>
        </p:nvSpPr>
        <p:spPr>
          <a:xfrm>
            <a:off x="14317066" y="17419320"/>
            <a:ext cx="6244133" cy="10981944"/>
          </a:xfrm>
          <a:prstGeom prst="roundRect">
            <a:avLst>
              <a:gd name="adj" fmla="val 2050"/>
            </a:avLst>
          </a:prstGeom>
          <a:solidFill>
            <a:srgbClr val="FFFFFF"/>
          </a:solidFill>
          <a:ln w="19050">
            <a:solidFill>
              <a:srgbClr val="00B0F0"/>
            </a:solidFill>
            <a:prstDash val="solid"/>
          </a:ln>
        </p:spPr>
        <p:txBody>
          <a:bodyPr/>
          <a:lstStyle/>
          <a:p>
            <a:endParaRPr lang="de-DE" noProof="0" dirty="0"/>
          </a:p>
        </p:txBody>
      </p:sp>
      <p:sp>
        <p:nvSpPr>
          <p:cNvPr id="100" name="Text 98"/>
          <p:cNvSpPr txBox="1"/>
          <p:nvPr/>
        </p:nvSpPr>
        <p:spPr>
          <a:xfrm>
            <a:off x="14682826" y="17693640"/>
            <a:ext cx="4899965" cy="640080"/>
          </a:xfrm>
          <a:prstGeom prst="rect">
            <a:avLst/>
          </a:prstGeom>
          <a:noFill/>
          <a:ln/>
        </p:spPr>
        <p:txBody>
          <a:bodyPr wrap="square" lIns="0" tIns="0" rIns="0" bIns="0" rtlCol="0" anchor="ctr"/>
          <a:lstStyle/>
          <a:p>
            <a:pPr marL="0" indent="0" algn="l">
              <a:buNone/>
            </a:pPr>
            <a:r>
              <a:rPr lang="de-DE" sz="2800" b="1" noProof="0" dirty="0">
                <a:solidFill>
                  <a:schemeClr val="accent1">
                    <a:lumMod val="50000"/>
                  </a:schemeClr>
                </a:solidFill>
                <a:latin typeface="Arial" panose="020B0604020202020204" pitchFamily="34" charset="0"/>
                <a:ea typeface="Cambria" pitchFamily="34" charset="-122"/>
                <a:cs typeface="Arial" panose="020B0604020202020204" pitchFamily="34" charset="0"/>
              </a:rPr>
              <a:t>8. Referenzen</a:t>
            </a:r>
            <a:endParaRPr lang="de-DE" sz="2800" b="1" noProof="0" dirty="0">
              <a:solidFill>
                <a:schemeClr val="accent1">
                  <a:lumMod val="50000"/>
                </a:schemeClr>
              </a:solidFill>
              <a:latin typeface="Arial" panose="020B0604020202020204" pitchFamily="34" charset="0"/>
              <a:cs typeface="Arial" panose="020B0604020202020204" pitchFamily="34" charset="0"/>
            </a:endParaRPr>
          </a:p>
        </p:txBody>
      </p:sp>
      <p:sp>
        <p:nvSpPr>
          <p:cNvPr id="101" name="Text 99"/>
          <p:cNvSpPr txBox="1"/>
          <p:nvPr/>
        </p:nvSpPr>
        <p:spPr>
          <a:xfrm>
            <a:off x="14682826" y="18425160"/>
            <a:ext cx="5512613" cy="9610344"/>
          </a:xfrm>
          <a:prstGeom prst="rect">
            <a:avLst/>
          </a:prstGeom>
          <a:noFill/>
          <a:ln/>
        </p:spPr>
        <p:txBody>
          <a:bodyPr wrap="square" lIns="0" tIns="0" rIns="0" bIns="0" rtlCol="0" anchor="t"/>
          <a:lstStyle/>
          <a:p>
            <a:pPr marL="0" indent="0" algn="l">
              <a:lnSpc>
                <a:spcPct val="150000"/>
              </a:lnSpc>
              <a:spcAft>
                <a:spcPts val="500"/>
              </a:spcAft>
              <a:buNone/>
            </a:pPr>
            <a:r>
              <a:rPr lang="de-DE" sz="1500" noProof="0" dirty="0">
                <a:latin typeface="Times New Roman" panose="02020603050405020304" pitchFamily="18" charset="0"/>
                <a:ea typeface="Calibri" pitchFamily="34" charset="-122"/>
                <a:cs typeface="Times New Roman" panose="02020603050405020304" pitchFamily="18" charset="0"/>
              </a:rPr>
              <a:t>[1] Lin, Y. &amp; Zhao, Q. (2025). Human </a:t>
            </a:r>
            <a:r>
              <a:rPr lang="de-DE" sz="1500" noProof="0" dirty="0" err="1">
                <a:latin typeface="Times New Roman" panose="02020603050405020304" pitchFamily="18" charset="0"/>
                <a:ea typeface="Calibri" pitchFamily="34" charset="-122"/>
                <a:cs typeface="Times New Roman" panose="02020603050405020304" pitchFamily="18" charset="0"/>
              </a:rPr>
              <a:t>Occupancy</a:t>
            </a:r>
            <a:r>
              <a:rPr lang="de-DE" sz="1500" noProof="0" dirty="0">
                <a:latin typeface="Times New Roman" panose="02020603050405020304" pitchFamily="18" charset="0"/>
                <a:ea typeface="Calibri" pitchFamily="34" charset="-122"/>
                <a:cs typeface="Times New Roman" panose="02020603050405020304" pitchFamily="18" charset="0"/>
              </a:rPr>
              <a:t> Monitoring and </a:t>
            </a:r>
            <a:r>
              <a:rPr lang="de-DE" sz="1500" noProof="0" dirty="0" err="1">
                <a:latin typeface="Times New Roman" panose="02020603050405020304" pitchFamily="18" charset="0"/>
                <a:ea typeface="Calibri" pitchFamily="34" charset="-122"/>
                <a:cs typeface="Times New Roman" panose="02020603050405020304" pitchFamily="18" charset="0"/>
              </a:rPr>
              <a:t>Positioning</a:t>
            </a:r>
            <a:r>
              <a:rPr lang="de-DE" sz="1500" noProof="0" dirty="0">
                <a:latin typeface="Times New Roman" panose="02020603050405020304" pitchFamily="18" charset="0"/>
                <a:ea typeface="Calibri" pitchFamily="34" charset="-122"/>
                <a:cs typeface="Times New Roman" panose="02020603050405020304" pitchFamily="18" charset="0"/>
              </a:rPr>
              <a:t> </a:t>
            </a:r>
            <a:r>
              <a:rPr lang="de-DE" sz="1500" noProof="0" dirty="0" err="1">
                <a:latin typeface="Times New Roman" panose="02020603050405020304" pitchFamily="18" charset="0"/>
                <a:ea typeface="Calibri" pitchFamily="34" charset="-122"/>
                <a:cs typeface="Times New Roman" panose="02020603050405020304" pitchFamily="18" charset="0"/>
              </a:rPr>
              <a:t>with</a:t>
            </a:r>
            <a:r>
              <a:rPr lang="de-DE" sz="1500" noProof="0" dirty="0">
                <a:latin typeface="Times New Roman" panose="02020603050405020304" pitchFamily="18" charset="0"/>
                <a:ea typeface="Calibri" pitchFamily="34" charset="-122"/>
                <a:cs typeface="Times New Roman" panose="02020603050405020304" pitchFamily="18" charset="0"/>
              </a:rPr>
              <a:t> an Infrared Thermal Array Sensor. </a:t>
            </a:r>
            <a:br>
              <a:rPr lang="de-DE" sz="1500" noProof="0" dirty="0">
                <a:latin typeface="Times New Roman" panose="02020603050405020304" pitchFamily="18" charset="0"/>
                <a:ea typeface="Calibri" pitchFamily="34" charset="-122"/>
                <a:cs typeface="Times New Roman" panose="02020603050405020304" pitchFamily="18" charset="0"/>
              </a:rPr>
            </a:br>
            <a:r>
              <a:rPr lang="de-DE" sz="1500" noProof="0" dirty="0">
                <a:latin typeface="Times New Roman" panose="02020603050405020304" pitchFamily="18" charset="0"/>
                <a:ea typeface="Calibri" pitchFamily="34" charset="-122"/>
                <a:cs typeface="Times New Roman" panose="02020603050405020304" pitchFamily="18" charset="0"/>
              </a:rPr>
              <a:t>DOI 10.3390/s25010129.</a:t>
            </a:r>
            <a:r>
              <a:rPr lang="de-DE" sz="1500" noProof="0" dirty="0">
                <a:solidFill>
                  <a:srgbClr val="5F646B"/>
                </a:solidFill>
                <a:latin typeface="Times New Roman" panose="02020603050405020304" pitchFamily="18" charset="0"/>
                <a:ea typeface="Calibri" pitchFamily="34" charset="-122"/>
                <a:cs typeface="Times New Roman" panose="02020603050405020304" pitchFamily="18" charset="0"/>
              </a:rPr>
              <a:t>
[2]</a:t>
            </a:r>
            <a:r>
              <a:rPr lang="de-DE" sz="1500" dirty="0">
                <a:latin typeface="Times New Roman" panose="02020603050405020304" pitchFamily="18" charset="0"/>
                <a:cs typeface="Times New Roman" panose="02020603050405020304" pitchFamily="18" charset="0"/>
              </a:rPr>
              <a:t> Adafruit Industries: </a:t>
            </a:r>
            <a:r>
              <a:rPr lang="de-DE" sz="1500" dirty="0" err="1">
                <a:latin typeface="Times New Roman" panose="02020603050405020304" pitchFamily="18" charset="0"/>
                <a:cs typeface="Times New Roman" panose="02020603050405020304" pitchFamily="18" charset="0"/>
              </a:rPr>
              <a:t>Grid</a:t>
            </a:r>
            <a:r>
              <a:rPr lang="de-DE" sz="1500" dirty="0">
                <a:latin typeface="Times New Roman" panose="02020603050405020304" pitchFamily="18" charset="0"/>
                <a:cs typeface="Times New Roman" panose="02020603050405020304" pitchFamily="18" charset="0"/>
              </a:rPr>
              <a:t>-EYE AMG8833 </a:t>
            </a:r>
            <a:r>
              <a:rPr lang="de-DE" sz="1500" dirty="0" err="1">
                <a:latin typeface="Times New Roman" panose="02020603050405020304" pitchFamily="18" charset="0"/>
                <a:cs typeface="Times New Roman" panose="02020603050405020304" pitchFamily="18" charset="0"/>
              </a:rPr>
              <a:t>Specifications</a:t>
            </a:r>
            <a:r>
              <a:rPr lang="de-DE" sz="1500" dirty="0">
                <a:latin typeface="Times New Roman" panose="02020603050405020304" pitchFamily="18" charset="0"/>
                <a:cs typeface="Times New Roman" panose="02020603050405020304" pitchFamily="18" charset="0"/>
              </a:rPr>
              <a:t> (Reference).</a:t>
            </a:r>
            <a:r>
              <a:rPr lang="de-DE" sz="1500" noProof="0" dirty="0">
                <a:solidFill>
                  <a:srgbClr val="5F646B"/>
                </a:solidFill>
                <a:latin typeface="Times New Roman" panose="02020603050405020304" pitchFamily="18" charset="0"/>
                <a:ea typeface="Calibri" pitchFamily="34" charset="-122"/>
                <a:cs typeface="Times New Roman" panose="02020603050405020304" pitchFamily="18" charset="0"/>
              </a:rPr>
              <a:t>
[3] </a:t>
            </a:r>
            <a:r>
              <a:rPr lang="de-DE" sz="1500" dirty="0" err="1">
                <a:latin typeface="Times New Roman" panose="02020603050405020304" pitchFamily="18" charset="0"/>
                <a:cs typeface="Times New Roman" panose="02020603050405020304" pitchFamily="18" charset="0"/>
              </a:rPr>
              <a:t>Heltec</a:t>
            </a:r>
            <a:r>
              <a:rPr lang="de-DE" sz="1500" dirty="0">
                <a:latin typeface="Times New Roman" panose="02020603050405020304" pitchFamily="18" charset="0"/>
                <a:cs typeface="Times New Roman" panose="02020603050405020304" pitchFamily="18" charset="0"/>
              </a:rPr>
              <a:t> Automation: WiFi </a:t>
            </a:r>
            <a:r>
              <a:rPr lang="de-DE" sz="1500" dirty="0" err="1">
                <a:latin typeface="Times New Roman" panose="02020603050405020304" pitchFamily="18" charset="0"/>
                <a:cs typeface="Times New Roman" panose="02020603050405020304" pitchFamily="18" charset="0"/>
              </a:rPr>
              <a:t>LoRa</a:t>
            </a:r>
            <a:r>
              <a:rPr lang="de-DE" sz="1500" dirty="0">
                <a:latin typeface="Times New Roman" panose="02020603050405020304" pitchFamily="18" charset="0"/>
                <a:cs typeface="Times New Roman" panose="02020603050405020304" pitchFamily="18" charset="0"/>
              </a:rPr>
              <a:t> 32 (V3) – ESP32-S3 + SX1262 </a:t>
            </a:r>
            <a:r>
              <a:rPr lang="de-DE" sz="1500" dirty="0" err="1">
                <a:latin typeface="Times New Roman" panose="02020603050405020304" pitchFamily="18" charset="0"/>
                <a:cs typeface="Times New Roman" panose="02020603050405020304" pitchFamily="18" charset="0"/>
              </a:rPr>
              <a:t>LoRa</a:t>
            </a:r>
            <a:r>
              <a:rPr lang="de-DE" sz="1500" dirty="0">
                <a:latin typeface="Times New Roman" panose="02020603050405020304" pitchFamily="18" charset="0"/>
                <a:cs typeface="Times New Roman" panose="02020603050405020304" pitchFamily="18" charset="0"/>
              </a:rPr>
              <a:t> Node.</a:t>
            </a:r>
            <a:r>
              <a:rPr lang="de-DE" sz="1500" noProof="0" dirty="0">
                <a:solidFill>
                  <a:srgbClr val="5F646B"/>
                </a:solidFill>
                <a:latin typeface="Times New Roman" panose="02020603050405020304" pitchFamily="18" charset="0"/>
                <a:ea typeface="Calibri" pitchFamily="34" charset="-122"/>
                <a:cs typeface="Times New Roman" panose="02020603050405020304" pitchFamily="18" charset="0"/>
              </a:rPr>
              <a:t>
[4] </a:t>
            </a:r>
            <a:r>
              <a:rPr lang="de-DE" sz="1500" dirty="0">
                <a:latin typeface="Times New Roman" panose="02020603050405020304" pitchFamily="18" charset="0"/>
                <a:cs typeface="Times New Roman" panose="02020603050405020304" pitchFamily="18" charset="0"/>
              </a:rPr>
              <a:t>Home Assistant: Automation Trigger – Webhook Trigger. </a:t>
            </a:r>
          </a:p>
          <a:p>
            <a:pPr marL="0" indent="0" algn="l">
              <a:lnSpc>
                <a:spcPct val="150000"/>
              </a:lnSpc>
              <a:spcAft>
                <a:spcPts val="500"/>
              </a:spcAft>
              <a:buNone/>
            </a:pPr>
            <a:r>
              <a:rPr lang="de-DE" sz="1500" dirty="0">
                <a:latin typeface="Times New Roman" panose="02020603050405020304" pitchFamily="18" charset="0"/>
                <a:cs typeface="Times New Roman" panose="02020603050405020304" pitchFamily="18" charset="0"/>
              </a:rPr>
              <a:t>[5] </a:t>
            </a:r>
            <a:r>
              <a:rPr lang="de-DE" sz="1500" dirty="0" err="1">
                <a:latin typeface="Times New Roman" panose="02020603050405020304" pitchFamily="18" charset="0"/>
                <a:cs typeface="Times New Roman" panose="02020603050405020304" pitchFamily="18" charset="0"/>
              </a:rPr>
              <a:t>Seeed</a:t>
            </a:r>
            <a:r>
              <a:rPr lang="de-DE" sz="1500" dirty="0">
                <a:latin typeface="Times New Roman" panose="02020603050405020304" pitchFamily="18" charset="0"/>
                <a:cs typeface="Times New Roman" panose="02020603050405020304" pitchFamily="18" charset="0"/>
              </a:rPr>
              <a:t> Studio: Grove – Infrared </a:t>
            </a:r>
            <a:r>
              <a:rPr lang="de-DE" sz="1500" dirty="0" err="1">
                <a:latin typeface="Times New Roman" panose="02020603050405020304" pitchFamily="18" charset="0"/>
                <a:cs typeface="Times New Roman" panose="02020603050405020304" pitchFamily="18" charset="0"/>
              </a:rPr>
              <a:t>Temperature</a:t>
            </a:r>
            <a:r>
              <a:rPr lang="de-DE" sz="1500" dirty="0">
                <a:latin typeface="Times New Roman" panose="02020603050405020304" pitchFamily="18" charset="0"/>
                <a:cs typeface="Times New Roman" panose="02020603050405020304" pitchFamily="18" charset="0"/>
              </a:rPr>
              <a:t> Sensor Array (AMG8833). </a:t>
            </a:r>
            <a:endParaRPr lang="de-DE" sz="1500" noProof="0" dirty="0">
              <a:latin typeface="Times New Roman" panose="02020603050405020304" pitchFamily="18" charset="0"/>
              <a:cs typeface="Times New Roman" panose="02020603050405020304" pitchFamily="18" charset="0"/>
            </a:endParaRPr>
          </a:p>
        </p:txBody>
      </p:sp>
      <p:sp>
        <p:nvSpPr>
          <p:cNvPr id="102" name="Shape 100"/>
          <p:cNvSpPr/>
          <p:nvPr/>
        </p:nvSpPr>
        <p:spPr>
          <a:xfrm>
            <a:off x="822960" y="28584144"/>
            <a:ext cx="19738238" cy="0"/>
          </a:xfrm>
          <a:prstGeom prst="line">
            <a:avLst/>
          </a:prstGeom>
          <a:noFill/>
          <a:ln w="12700">
            <a:solidFill>
              <a:srgbClr val="D3DCE0"/>
            </a:solidFill>
            <a:prstDash val="solid"/>
          </a:ln>
        </p:spPr>
        <p:txBody>
          <a:bodyPr/>
          <a:lstStyle/>
          <a:p>
            <a:endParaRPr lang="de-DE" noProof="0" dirty="0"/>
          </a:p>
        </p:txBody>
      </p:sp>
      <p:sp>
        <p:nvSpPr>
          <p:cNvPr id="103" name="Text 101"/>
          <p:cNvSpPr txBox="1"/>
          <p:nvPr/>
        </p:nvSpPr>
        <p:spPr>
          <a:xfrm>
            <a:off x="822960" y="28729141"/>
            <a:ext cx="11842943" cy="548640"/>
          </a:xfrm>
          <a:prstGeom prst="rect">
            <a:avLst/>
          </a:prstGeom>
          <a:noFill/>
          <a:ln/>
        </p:spPr>
        <p:txBody>
          <a:bodyPr wrap="square" lIns="0" tIns="0" rIns="0" bIns="0" rtlCol="0" anchor="ctr"/>
          <a:lstStyle/>
          <a:p>
            <a:pPr marL="0" indent="0" algn="l">
              <a:buNone/>
            </a:pPr>
            <a:r>
              <a:rPr lang="de-DE" sz="2000" b="1" noProof="0" dirty="0">
                <a:solidFill>
                  <a:srgbClr val="23272E"/>
                </a:solidFill>
                <a:latin typeface="Arial" panose="020B0604020202020204" pitchFamily="34" charset="0"/>
                <a:ea typeface="Calibri" pitchFamily="34" charset="-122"/>
                <a:cs typeface="Arial" panose="020B0604020202020204" pitchFamily="34" charset="0"/>
              </a:rPr>
              <a:t>Kontakt: </a:t>
            </a:r>
            <a:r>
              <a:rPr lang="de-DE" noProof="0" dirty="0">
                <a:solidFill>
                  <a:srgbClr val="5F646B"/>
                </a:solidFill>
                <a:latin typeface="Calibri" pitchFamily="34" charset="0"/>
                <a:ea typeface="Calibri" pitchFamily="34" charset="-122"/>
                <a:cs typeface="Calibri" pitchFamily="34" charset="-120"/>
                <a:hlinkClick r:id="rId3"/>
              </a:rPr>
              <a:t>philippe.simons@stud.hs-hannover.de</a:t>
            </a:r>
            <a:r>
              <a:rPr lang="de-DE" noProof="0" dirty="0">
                <a:solidFill>
                  <a:srgbClr val="5F646B"/>
                </a:solidFill>
                <a:latin typeface="Calibri" pitchFamily="34" charset="0"/>
                <a:ea typeface="Calibri" pitchFamily="34" charset="-122"/>
                <a:cs typeface="Calibri" pitchFamily="34" charset="-120"/>
              </a:rPr>
              <a:t>, </a:t>
            </a:r>
            <a:r>
              <a:rPr lang="de-DE" noProof="0" dirty="0">
                <a:solidFill>
                  <a:srgbClr val="5F646B"/>
                </a:solidFill>
                <a:latin typeface="Calibri" pitchFamily="34" charset="0"/>
                <a:ea typeface="Calibri" pitchFamily="34" charset="-122"/>
                <a:cs typeface="Calibri" pitchFamily="34" charset="-120"/>
                <a:hlinkClick r:id="rId4"/>
              </a:rPr>
              <a:t>mauro.holzki@stud.hs-hannover.de</a:t>
            </a:r>
            <a:r>
              <a:rPr lang="de-DE" noProof="0" dirty="0">
                <a:solidFill>
                  <a:srgbClr val="5F646B"/>
                </a:solidFill>
                <a:latin typeface="Calibri" pitchFamily="34" charset="0"/>
                <a:ea typeface="Calibri" pitchFamily="34" charset="-122"/>
                <a:cs typeface="Calibri" pitchFamily="34" charset="-120"/>
              </a:rPr>
              <a:t>. </a:t>
            </a:r>
            <a:endParaRPr lang="de-DE" noProof="0" dirty="0"/>
          </a:p>
        </p:txBody>
      </p:sp>
      <p:sp>
        <p:nvSpPr>
          <p:cNvPr id="106" name="Shape 1">
            <a:extLst>
              <a:ext uri="{FF2B5EF4-FFF2-40B4-BE49-F238E27FC236}">
                <a16:creationId xmlns:a16="http://schemas.microsoft.com/office/drawing/2014/main" id="{1B8998F5-78F3-2115-6F40-FC44515BFBDC}"/>
              </a:ext>
            </a:extLst>
          </p:cNvPr>
          <p:cNvSpPr/>
          <p:nvPr/>
        </p:nvSpPr>
        <p:spPr>
          <a:xfrm>
            <a:off x="1325347" y="1225296"/>
            <a:ext cx="301752" cy="301752"/>
          </a:xfrm>
          <a:prstGeom prst="rect">
            <a:avLst/>
          </a:prstGeom>
          <a:solidFill>
            <a:schemeClr val="accent5">
              <a:lumMod val="50000"/>
            </a:schemeClr>
          </a:solidFill>
          <a:ln/>
        </p:spPr>
        <p:txBody>
          <a:bodyPr/>
          <a:lstStyle/>
          <a:p>
            <a:endParaRPr lang="de-DE" noProof="0" dirty="0"/>
          </a:p>
        </p:txBody>
      </p:sp>
      <p:sp>
        <p:nvSpPr>
          <p:cNvPr id="107" name="Shape 2">
            <a:extLst>
              <a:ext uri="{FF2B5EF4-FFF2-40B4-BE49-F238E27FC236}">
                <a16:creationId xmlns:a16="http://schemas.microsoft.com/office/drawing/2014/main" id="{16E5BFE7-FB66-39D2-9269-64E1B37AB021}"/>
              </a:ext>
            </a:extLst>
          </p:cNvPr>
          <p:cNvSpPr/>
          <p:nvPr/>
        </p:nvSpPr>
        <p:spPr>
          <a:xfrm>
            <a:off x="1672819" y="1225296"/>
            <a:ext cx="301752" cy="301752"/>
          </a:xfrm>
          <a:prstGeom prst="rect">
            <a:avLst/>
          </a:prstGeom>
          <a:solidFill>
            <a:srgbClr val="0F6E56"/>
          </a:solidFill>
          <a:ln/>
        </p:spPr>
        <p:txBody>
          <a:bodyPr/>
          <a:lstStyle/>
          <a:p>
            <a:endParaRPr lang="de-DE" noProof="0" dirty="0"/>
          </a:p>
        </p:txBody>
      </p:sp>
      <p:sp>
        <p:nvSpPr>
          <p:cNvPr id="108" name="Shape 3">
            <a:extLst>
              <a:ext uri="{FF2B5EF4-FFF2-40B4-BE49-F238E27FC236}">
                <a16:creationId xmlns:a16="http://schemas.microsoft.com/office/drawing/2014/main" id="{F1BC8FC4-F5CD-E94F-F211-680436A71F58}"/>
              </a:ext>
            </a:extLst>
          </p:cNvPr>
          <p:cNvSpPr/>
          <p:nvPr/>
        </p:nvSpPr>
        <p:spPr>
          <a:xfrm>
            <a:off x="2020291" y="1225296"/>
            <a:ext cx="301752" cy="301752"/>
          </a:xfrm>
          <a:prstGeom prst="rect">
            <a:avLst/>
          </a:prstGeom>
          <a:solidFill>
            <a:srgbClr val="0F6E56"/>
          </a:solidFill>
          <a:ln/>
        </p:spPr>
        <p:txBody>
          <a:bodyPr/>
          <a:lstStyle/>
          <a:p>
            <a:endParaRPr lang="de-DE" noProof="0" dirty="0"/>
          </a:p>
        </p:txBody>
      </p:sp>
      <p:sp>
        <p:nvSpPr>
          <p:cNvPr id="109" name="Shape 4">
            <a:extLst>
              <a:ext uri="{FF2B5EF4-FFF2-40B4-BE49-F238E27FC236}">
                <a16:creationId xmlns:a16="http://schemas.microsoft.com/office/drawing/2014/main" id="{B2A50F84-A70C-88E8-0C9A-AB028D487DA9}"/>
              </a:ext>
            </a:extLst>
          </p:cNvPr>
          <p:cNvSpPr/>
          <p:nvPr/>
        </p:nvSpPr>
        <p:spPr>
          <a:xfrm>
            <a:off x="2367763" y="1225296"/>
            <a:ext cx="301752" cy="301752"/>
          </a:xfrm>
          <a:prstGeom prst="rect">
            <a:avLst/>
          </a:prstGeom>
          <a:solidFill>
            <a:srgbClr val="0F6E56"/>
          </a:solidFill>
          <a:ln/>
        </p:spPr>
        <p:txBody>
          <a:bodyPr/>
          <a:lstStyle/>
          <a:p>
            <a:endParaRPr lang="de-DE" noProof="0" dirty="0"/>
          </a:p>
        </p:txBody>
      </p:sp>
      <p:sp>
        <p:nvSpPr>
          <p:cNvPr id="110" name="Shape 5">
            <a:extLst>
              <a:ext uri="{FF2B5EF4-FFF2-40B4-BE49-F238E27FC236}">
                <a16:creationId xmlns:a16="http://schemas.microsoft.com/office/drawing/2014/main" id="{920DA7EA-E5E7-DA95-A707-E86A4A78D425}"/>
              </a:ext>
            </a:extLst>
          </p:cNvPr>
          <p:cNvSpPr/>
          <p:nvPr/>
        </p:nvSpPr>
        <p:spPr>
          <a:xfrm>
            <a:off x="2715235" y="1225296"/>
            <a:ext cx="301752" cy="301752"/>
          </a:xfrm>
          <a:prstGeom prst="rect">
            <a:avLst/>
          </a:prstGeom>
          <a:solidFill>
            <a:srgbClr val="0F6E56"/>
          </a:solidFill>
          <a:ln/>
        </p:spPr>
        <p:txBody>
          <a:bodyPr/>
          <a:lstStyle/>
          <a:p>
            <a:endParaRPr lang="de-DE" noProof="0" dirty="0"/>
          </a:p>
        </p:txBody>
      </p:sp>
      <p:sp>
        <p:nvSpPr>
          <p:cNvPr id="111" name="Shape 6">
            <a:extLst>
              <a:ext uri="{FF2B5EF4-FFF2-40B4-BE49-F238E27FC236}">
                <a16:creationId xmlns:a16="http://schemas.microsoft.com/office/drawing/2014/main" id="{45393554-1AA5-8202-3CB0-0481F3D8B3A1}"/>
              </a:ext>
            </a:extLst>
          </p:cNvPr>
          <p:cNvSpPr/>
          <p:nvPr/>
        </p:nvSpPr>
        <p:spPr>
          <a:xfrm>
            <a:off x="3062707" y="1225296"/>
            <a:ext cx="301752" cy="301752"/>
          </a:xfrm>
          <a:prstGeom prst="rect">
            <a:avLst/>
          </a:prstGeom>
          <a:solidFill>
            <a:srgbClr val="0F6E56"/>
          </a:solidFill>
          <a:ln/>
        </p:spPr>
        <p:txBody>
          <a:bodyPr/>
          <a:lstStyle/>
          <a:p>
            <a:endParaRPr lang="de-DE" noProof="0" dirty="0"/>
          </a:p>
        </p:txBody>
      </p:sp>
      <p:sp>
        <p:nvSpPr>
          <p:cNvPr id="112" name="Shape 7">
            <a:extLst>
              <a:ext uri="{FF2B5EF4-FFF2-40B4-BE49-F238E27FC236}">
                <a16:creationId xmlns:a16="http://schemas.microsoft.com/office/drawing/2014/main" id="{24D8B230-1EA0-FF02-3A9F-3AD3C23CD73A}"/>
              </a:ext>
            </a:extLst>
          </p:cNvPr>
          <p:cNvSpPr/>
          <p:nvPr/>
        </p:nvSpPr>
        <p:spPr>
          <a:xfrm>
            <a:off x="3410179" y="1225296"/>
            <a:ext cx="301752" cy="301752"/>
          </a:xfrm>
          <a:prstGeom prst="rect">
            <a:avLst/>
          </a:prstGeom>
          <a:solidFill>
            <a:srgbClr val="0F6E56"/>
          </a:solidFill>
          <a:ln/>
        </p:spPr>
        <p:txBody>
          <a:bodyPr/>
          <a:lstStyle/>
          <a:p>
            <a:endParaRPr lang="de-DE" noProof="0" dirty="0"/>
          </a:p>
        </p:txBody>
      </p:sp>
      <p:sp>
        <p:nvSpPr>
          <p:cNvPr id="113" name="Shape 8">
            <a:extLst>
              <a:ext uri="{FF2B5EF4-FFF2-40B4-BE49-F238E27FC236}">
                <a16:creationId xmlns:a16="http://schemas.microsoft.com/office/drawing/2014/main" id="{86723F8C-60B9-091B-B447-CEE00828438E}"/>
              </a:ext>
            </a:extLst>
          </p:cNvPr>
          <p:cNvSpPr/>
          <p:nvPr/>
        </p:nvSpPr>
        <p:spPr>
          <a:xfrm>
            <a:off x="3757651" y="1225296"/>
            <a:ext cx="301752" cy="301752"/>
          </a:xfrm>
          <a:prstGeom prst="rect">
            <a:avLst/>
          </a:prstGeom>
          <a:solidFill>
            <a:srgbClr val="0F6E56"/>
          </a:solidFill>
          <a:ln/>
        </p:spPr>
        <p:txBody>
          <a:bodyPr/>
          <a:lstStyle/>
          <a:p>
            <a:endParaRPr lang="de-DE" noProof="0" dirty="0"/>
          </a:p>
        </p:txBody>
      </p:sp>
      <p:sp>
        <p:nvSpPr>
          <p:cNvPr id="114" name="Shape 9">
            <a:extLst>
              <a:ext uri="{FF2B5EF4-FFF2-40B4-BE49-F238E27FC236}">
                <a16:creationId xmlns:a16="http://schemas.microsoft.com/office/drawing/2014/main" id="{8C9E89F9-4B6D-BD4F-4973-0C7FDFE28C73}"/>
              </a:ext>
            </a:extLst>
          </p:cNvPr>
          <p:cNvSpPr/>
          <p:nvPr/>
        </p:nvSpPr>
        <p:spPr>
          <a:xfrm>
            <a:off x="1325347" y="1572768"/>
            <a:ext cx="301752" cy="301752"/>
          </a:xfrm>
          <a:prstGeom prst="rect">
            <a:avLst/>
          </a:prstGeom>
          <a:solidFill>
            <a:schemeClr val="accent5">
              <a:lumMod val="50000"/>
            </a:schemeClr>
          </a:solidFill>
          <a:ln/>
        </p:spPr>
        <p:txBody>
          <a:bodyPr/>
          <a:lstStyle/>
          <a:p>
            <a:endParaRPr lang="de-DE" noProof="0" dirty="0"/>
          </a:p>
        </p:txBody>
      </p:sp>
      <p:sp>
        <p:nvSpPr>
          <p:cNvPr id="115" name="Shape 10">
            <a:extLst>
              <a:ext uri="{FF2B5EF4-FFF2-40B4-BE49-F238E27FC236}">
                <a16:creationId xmlns:a16="http://schemas.microsoft.com/office/drawing/2014/main" id="{B6EC39C7-3BD2-DC9D-8782-4FD4F9F31DA9}"/>
              </a:ext>
            </a:extLst>
          </p:cNvPr>
          <p:cNvSpPr/>
          <p:nvPr/>
        </p:nvSpPr>
        <p:spPr>
          <a:xfrm>
            <a:off x="1672819" y="1572768"/>
            <a:ext cx="301752" cy="301752"/>
          </a:xfrm>
          <a:prstGeom prst="rect">
            <a:avLst/>
          </a:prstGeom>
          <a:solidFill>
            <a:srgbClr val="0F6E56"/>
          </a:solidFill>
          <a:ln/>
        </p:spPr>
        <p:txBody>
          <a:bodyPr/>
          <a:lstStyle/>
          <a:p>
            <a:endParaRPr lang="de-DE" noProof="0" dirty="0"/>
          </a:p>
        </p:txBody>
      </p:sp>
      <p:sp>
        <p:nvSpPr>
          <p:cNvPr id="116" name="Shape 11">
            <a:extLst>
              <a:ext uri="{FF2B5EF4-FFF2-40B4-BE49-F238E27FC236}">
                <a16:creationId xmlns:a16="http://schemas.microsoft.com/office/drawing/2014/main" id="{CD335EBD-214B-598D-CF17-44B15A8BF47A}"/>
              </a:ext>
            </a:extLst>
          </p:cNvPr>
          <p:cNvSpPr/>
          <p:nvPr/>
        </p:nvSpPr>
        <p:spPr>
          <a:xfrm>
            <a:off x="2020291" y="1572768"/>
            <a:ext cx="301752" cy="301752"/>
          </a:xfrm>
          <a:prstGeom prst="rect">
            <a:avLst/>
          </a:prstGeom>
          <a:solidFill>
            <a:schemeClr val="accent6">
              <a:lumMod val="40000"/>
              <a:lumOff val="60000"/>
            </a:schemeClr>
          </a:solidFill>
          <a:ln/>
        </p:spPr>
        <p:txBody>
          <a:bodyPr/>
          <a:lstStyle/>
          <a:p>
            <a:endParaRPr lang="de-DE" noProof="0" dirty="0"/>
          </a:p>
        </p:txBody>
      </p:sp>
      <p:sp>
        <p:nvSpPr>
          <p:cNvPr id="117" name="Shape 12">
            <a:extLst>
              <a:ext uri="{FF2B5EF4-FFF2-40B4-BE49-F238E27FC236}">
                <a16:creationId xmlns:a16="http://schemas.microsoft.com/office/drawing/2014/main" id="{25D64849-0918-E26D-C00E-1BBA7E72F62B}"/>
              </a:ext>
            </a:extLst>
          </p:cNvPr>
          <p:cNvSpPr/>
          <p:nvPr/>
        </p:nvSpPr>
        <p:spPr>
          <a:xfrm>
            <a:off x="2367763" y="1572768"/>
            <a:ext cx="301752" cy="301752"/>
          </a:xfrm>
          <a:prstGeom prst="rect">
            <a:avLst/>
          </a:prstGeom>
          <a:solidFill>
            <a:schemeClr val="accent6">
              <a:lumMod val="40000"/>
              <a:lumOff val="60000"/>
            </a:schemeClr>
          </a:solidFill>
          <a:ln/>
        </p:spPr>
        <p:txBody>
          <a:bodyPr/>
          <a:lstStyle/>
          <a:p>
            <a:endParaRPr lang="de-DE" noProof="0" dirty="0"/>
          </a:p>
        </p:txBody>
      </p:sp>
      <p:sp>
        <p:nvSpPr>
          <p:cNvPr id="118" name="Shape 13">
            <a:extLst>
              <a:ext uri="{FF2B5EF4-FFF2-40B4-BE49-F238E27FC236}">
                <a16:creationId xmlns:a16="http://schemas.microsoft.com/office/drawing/2014/main" id="{424377D0-6B46-9E26-345A-2D28A3B967F4}"/>
              </a:ext>
            </a:extLst>
          </p:cNvPr>
          <p:cNvSpPr/>
          <p:nvPr/>
        </p:nvSpPr>
        <p:spPr>
          <a:xfrm>
            <a:off x="2715235" y="1572768"/>
            <a:ext cx="301752" cy="301752"/>
          </a:xfrm>
          <a:prstGeom prst="rect">
            <a:avLst/>
          </a:prstGeom>
          <a:solidFill>
            <a:schemeClr val="accent6">
              <a:lumMod val="40000"/>
              <a:lumOff val="60000"/>
            </a:schemeClr>
          </a:solidFill>
          <a:ln/>
        </p:spPr>
        <p:txBody>
          <a:bodyPr/>
          <a:lstStyle/>
          <a:p>
            <a:endParaRPr lang="de-DE" noProof="0" dirty="0"/>
          </a:p>
        </p:txBody>
      </p:sp>
      <p:sp>
        <p:nvSpPr>
          <p:cNvPr id="119" name="Shape 14">
            <a:extLst>
              <a:ext uri="{FF2B5EF4-FFF2-40B4-BE49-F238E27FC236}">
                <a16:creationId xmlns:a16="http://schemas.microsoft.com/office/drawing/2014/main" id="{738C10DD-7BA7-A92B-8314-5CA4D224CEBB}"/>
              </a:ext>
            </a:extLst>
          </p:cNvPr>
          <p:cNvSpPr/>
          <p:nvPr/>
        </p:nvSpPr>
        <p:spPr>
          <a:xfrm>
            <a:off x="3062707" y="1572768"/>
            <a:ext cx="301752" cy="301752"/>
          </a:xfrm>
          <a:prstGeom prst="rect">
            <a:avLst/>
          </a:prstGeom>
          <a:solidFill>
            <a:schemeClr val="accent6">
              <a:lumMod val="40000"/>
              <a:lumOff val="60000"/>
            </a:schemeClr>
          </a:solidFill>
          <a:ln/>
        </p:spPr>
        <p:txBody>
          <a:bodyPr/>
          <a:lstStyle/>
          <a:p>
            <a:endParaRPr lang="de-DE" noProof="0" dirty="0"/>
          </a:p>
        </p:txBody>
      </p:sp>
      <p:sp>
        <p:nvSpPr>
          <p:cNvPr id="120" name="Shape 15">
            <a:extLst>
              <a:ext uri="{FF2B5EF4-FFF2-40B4-BE49-F238E27FC236}">
                <a16:creationId xmlns:a16="http://schemas.microsoft.com/office/drawing/2014/main" id="{D3BF36F4-E5CC-C0FA-448B-E0F2489950A5}"/>
              </a:ext>
            </a:extLst>
          </p:cNvPr>
          <p:cNvSpPr/>
          <p:nvPr/>
        </p:nvSpPr>
        <p:spPr>
          <a:xfrm>
            <a:off x="3410179" y="1572768"/>
            <a:ext cx="301752" cy="301752"/>
          </a:xfrm>
          <a:prstGeom prst="rect">
            <a:avLst/>
          </a:prstGeom>
          <a:solidFill>
            <a:srgbClr val="0F6E56"/>
          </a:solidFill>
          <a:ln/>
        </p:spPr>
        <p:txBody>
          <a:bodyPr/>
          <a:lstStyle/>
          <a:p>
            <a:endParaRPr lang="de-DE" noProof="0" dirty="0"/>
          </a:p>
        </p:txBody>
      </p:sp>
      <p:sp>
        <p:nvSpPr>
          <p:cNvPr id="121" name="Shape 16">
            <a:extLst>
              <a:ext uri="{FF2B5EF4-FFF2-40B4-BE49-F238E27FC236}">
                <a16:creationId xmlns:a16="http://schemas.microsoft.com/office/drawing/2014/main" id="{CE21FCAA-7749-1FA8-FD16-F8FDFD98A91D}"/>
              </a:ext>
            </a:extLst>
          </p:cNvPr>
          <p:cNvSpPr/>
          <p:nvPr/>
        </p:nvSpPr>
        <p:spPr>
          <a:xfrm>
            <a:off x="3757651" y="1572768"/>
            <a:ext cx="301752" cy="301752"/>
          </a:xfrm>
          <a:prstGeom prst="rect">
            <a:avLst/>
          </a:prstGeom>
          <a:solidFill>
            <a:srgbClr val="0F6E56"/>
          </a:solidFill>
          <a:ln/>
        </p:spPr>
        <p:txBody>
          <a:bodyPr/>
          <a:lstStyle/>
          <a:p>
            <a:endParaRPr lang="de-DE" noProof="0" dirty="0"/>
          </a:p>
        </p:txBody>
      </p:sp>
      <p:sp>
        <p:nvSpPr>
          <p:cNvPr id="122" name="Shape 17">
            <a:extLst>
              <a:ext uri="{FF2B5EF4-FFF2-40B4-BE49-F238E27FC236}">
                <a16:creationId xmlns:a16="http://schemas.microsoft.com/office/drawing/2014/main" id="{9E9E3B69-46E9-8C17-4C18-7FD0DD8DDB5C}"/>
              </a:ext>
            </a:extLst>
          </p:cNvPr>
          <p:cNvSpPr/>
          <p:nvPr/>
        </p:nvSpPr>
        <p:spPr>
          <a:xfrm>
            <a:off x="1325347" y="1920240"/>
            <a:ext cx="301752" cy="301752"/>
          </a:xfrm>
          <a:prstGeom prst="rect">
            <a:avLst/>
          </a:prstGeom>
          <a:solidFill>
            <a:schemeClr val="accent5">
              <a:lumMod val="50000"/>
            </a:schemeClr>
          </a:solidFill>
          <a:ln/>
        </p:spPr>
        <p:txBody>
          <a:bodyPr/>
          <a:lstStyle/>
          <a:p>
            <a:endParaRPr lang="de-DE" noProof="0" dirty="0"/>
          </a:p>
        </p:txBody>
      </p:sp>
      <p:sp>
        <p:nvSpPr>
          <p:cNvPr id="123" name="Shape 18">
            <a:extLst>
              <a:ext uri="{FF2B5EF4-FFF2-40B4-BE49-F238E27FC236}">
                <a16:creationId xmlns:a16="http://schemas.microsoft.com/office/drawing/2014/main" id="{F7F2AFA2-E0C2-0FE6-1646-611883624CA9}"/>
              </a:ext>
            </a:extLst>
          </p:cNvPr>
          <p:cNvSpPr/>
          <p:nvPr/>
        </p:nvSpPr>
        <p:spPr>
          <a:xfrm>
            <a:off x="1672819" y="1920240"/>
            <a:ext cx="301752" cy="301752"/>
          </a:xfrm>
          <a:prstGeom prst="rect">
            <a:avLst/>
          </a:prstGeom>
          <a:solidFill>
            <a:schemeClr val="accent6">
              <a:lumMod val="40000"/>
              <a:lumOff val="60000"/>
            </a:schemeClr>
          </a:solidFill>
          <a:ln/>
        </p:spPr>
        <p:txBody>
          <a:bodyPr/>
          <a:lstStyle/>
          <a:p>
            <a:endParaRPr lang="de-DE" noProof="0" dirty="0"/>
          </a:p>
        </p:txBody>
      </p:sp>
      <p:sp>
        <p:nvSpPr>
          <p:cNvPr id="124" name="Shape 19">
            <a:extLst>
              <a:ext uri="{FF2B5EF4-FFF2-40B4-BE49-F238E27FC236}">
                <a16:creationId xmlns:a16="http://schemas.microsoft.com/office/drawing/2014/main" id="{26FD68D2-A24A-449E-AA6B-03C9BFDA25E0}"/>
              </a:ext>
            </a:extLst>
          </p:cNvPr>
          <p:cNvSpPr/>
          <p:nvPr/>
        </p:nvSpPr>
        <p:spPr>
          <a:xfrm>
            <a:off x="2020291" y="1920240"/>
            <a:ext cx="301752" cy="301752"/>
          </a:xfrm>
          <a:prstGeom prst="rect">
            <a:avLst/>
          </a:prstGeom>
          <a:solidFill>
            <a:schemeClr val="accent4">
              <a:lumMod val="40000"/>
              <a:lumOff val="60000"/>
            </a:schemeClr>
          </a:solidFill>
          <a:ln/>
        </p:spPr>
        <p:txBody>
          <a:bodyPr/>
          <a:lstStyle/>
          <a:p>
            <a:endParaRPr lang="de-DE" noProof="0" dirty="0"/>
          </a:p>
        </p:txBody>
      </p:sp>
      <p:sp>
        <p:nvSpPr>
          <p:cNvPr id="125" name="Shape 20">
            <a:extLst>
              <a:ext uri="{FF2B5EF4-FFF2-40B4-BE49-F238E27FC236}">
                <a16:creationId xmlns:a16="http://schemas.microsoft.com/office/drawing/2014/main" id="{5995E965-62AA-C959-7925-FF716E4679DA}"/>
              </a:ext>
            </a:extLst>
          </p:cNvPr>
          <p:cNvSpPr/>
          <p:nvPr/>
        </p:nvSpPr>
        <p:spPr>
          <a:xfrm>
            <a:off x="2367763" y="1920240"/>
            <a:ext cx="301752" cy="301752"/>
          </a:xfrm>
          <a:prstGeom prst="rect">
            <a:avLst/>
          </a:prstGeom>
          <a:solidFill>
            <a:schemeClr val="accent4">
              <a:lumMod val="40000"/>
              <a:lumOff val="60000"/>
            </a:schemeClr>
          </a:solidFill>
          <a:ln/>
        </p:spPr>
        <p:txBody>
          <a:bodyPr/>
          <a:lstStyle/>
          <a:p>
            <a:endParaRPr lang="de-DE" noProof="0" dirty="0"/>
          </a:p>
        </p:txBody>
      </p:sp>
      <p:sp>
        <p:nvSpPr>
          <p:cNvPr id="126" name="Shape 21">
            <a:extLst>
              <a:ext uri="{FF2B5EF4-FFF2-40B4-BE49-F238E27FC236}">
                <a16:creationId xmlns:a16="http://schemas.microsoft.com/office/drawing/2014/main" id="{E86E40A8-5BB7-78C3-4CB0-A7A9592604C2}"/>
              </a:ext>
            </a:extLst>
          </p:cNvPr>
          <p:cNvSpPr/>
          <p:nvPr/>
        </p:nvSpPr>
        <p:spPr>
          <a:xfrm>
            <a:off x="2715235" y="1920240"/>
            <a:ext cx="301752" cy="301752"/>
          </a:xfrm>
          <a:prstGeom prst="rect">
            <a:avLst/>
          </a:prstGeom>
          <a:solidFill>
            <a:schemeClr val="accent4">
              <a:lumMod val="40000"/>
              <a:lumOff val="60000"/>
            </a:schemeClr>
          </a:solidFill>
          <a:ln/>
        </p:spPr>
        <p:txBody>
          <a:bodyPr/>
          <a:lstStyle/>
          <a:p>
            <a:endParaRPr lang="de-DE" noProof="0" dirty="0"/>
          </a:p>
        </p:txBody>
      </p:sp>
      <p:sp>
        <p:nvSpPr>
          <p:cNvPr id="127" name="Shape 22">
            <a:extLst>
              <a:ext uri="{FF2B5EF4-FFF2-40B4-BE49-F238E27FC236}">
                <a16:creationId xmlns:a16="http://schemas.microsoft.com/office/drawing/2014/main" id="{2066237E-5562-0383-1E09-2100E8AA14A5}"/>
              </a:ext>
            </a:extLst>
          </p:cNvPr>
          <p:cNvSpPr/>
          <p:nvPr/>
        </p:nvSpPr>
        <p:spPr>
          <a:xfrm>
            <a:off x="3062707" y="1920240"/>
            <a:ext cx="301752" cy="301752"/>
          </a:xfrm>
          <a:prstGeom prst="rect">
            <a:avLst/>
          </a:prstGeom>
          <a:solidFill>
            <a:schemeClr val="accent4">
              <a:lumMod val="40000"/>
              <a:lumOff val="60000"/>
            </a:schemeClr>
          </a:solidFill>
          <a:ln/>
        </p:spPr>
        <p:txBody>
          <a:bodyPr/>
          <a:lstStyle/>
          <a:p>
            <a:endParaRPr lang="de-DE" noProof="0" dirty="0"/>
          </a:p>
        </p:txBody>
      </p:sp>
      <p:sp>
        <p:nvSpPr>
          <p:cNvPr id="128" name="Shape 23">
            <a:extLst>
              <a:ext uri="{FF2B5EF4-FFF2-40B4-BE49-F238E27FC236}">
                <a16:creationId xmlns:a16="http://schemas.microsoft.com/office/drawing/2014/main" id="{E50EB268-3251-6323-6FCC-936F45ECEF11}"/>
              </a:ext>
            </a:extLst>
          </p:cNvPr>
          <p:cNvSpPr/>
          <p:nvPr/>
        </p:nvSpPr>
        <p:spPr>
          <a:xfrm>
            <a:off x="3410179" y="1920240"/>
            <a:ext cx="301752" cy="301752"/>
          </a:xfrm>
          <a:prstGeom prst="rect">
            <a:avLst/>
          </a:prstGeom>
          <a:solidFill>
            <a:schemeClr val="accent6">
              <a:lumMod val="40000"/>
              <a:lumOff val="60000"/>
            </a:schemeClr>
          </a:solidFill>
          <a:ln/>
        </p:spPr>
        <p:txBody>
          <a:bodyPr/>
          <a:lstStyle/>
          <a:p>
            <a:endParaRPr lang="de-DE" noProof="0" dirty="0"/>
          </a:p>
        </p:txBody>
      </p:sp>
      <p:sp>
        <p:nvSpPr>
          <p:cNvPr id="129" name="Shape 24">
            <a:extLst>
              <a:ext uri="{FF2B5EF4-FFF2-40B4-BE49-F238E27FC236}">
                <a16:creationId xmlns:a16="http://schemas.microsoft.com/office/drawing/2014/main" id="{DF0EA3C7-BAB4-02FB-8129-31EFFB63A7E9}"/>
              </a:ext>
            </a:extLst>
          </p:cNvPr>
          <p:cNvSpPr/>
          <p:nvPr/>
        </p:nvSpPr>
        <p:spPr>
          <a:xfrm>
            <a:off x="3757651" y="1920240"/>
            <a:ext cx="301752" cy="301752"/>
          </a:xfrm>
          <a:prstGeom prst="rect">
            <a:avLst/>
          </a:prstGeom>
          <a:solidFill>
            <a:srgbClr val="0F6E56"/>
          </a:solidFill>
          <a:ln/>
        </p:spPr>
        <p:txBody>
          <a:bodyPr/>
          <a:lstStyle/>
          <a:p>
            <a:endParaRPr lang="de-DE" noProof="0" dirty="0"/>
          </a:p>
        </p:txBody>
      </p:sp>
      <p:sp>
        <p:nvSpPr>
          <p:cNvPr id="130" name="Shape 25">
            <a:extLst>
              <a:ext uri="{FF2B5EF4-FFF2-40B4-BE49-F238E27FC236}">
                <a16:creationId xmlns:a16="http://schemas.microsoft.com/office/drawing/2014/main" id="{546300EA-82FF-ADF6-CD9D-B8B45519A04E}"/>
              </a:ext>
            </a:extLst>
          </p:cNvPr>
          <p:cNvSpPr/>
          <p:nvPr/>
        </p:nvSpPr>
        <p:spPr>
          <a:xfrm>
            <a:off x="1325347" y="2267712"/>
            <a:ext cx="301752" cy="301752"/>
          </a:xfrm>
          <a:prstGeom prst="rect">
            <a:avLst/>
          </a:prstGeom>
          <a:solidFill>
            <a:schemeClr val="accent5">
              <a:lumMod val="50000"/>
            </a:schemeClr>
          </a:solidFill>
          <a:ln/>
        </p:spPr>
        <p:txBody>
          <a:bodyPr/>
          <a:lstStyle/>
          <a:p>
            <a:endParaRPr lang="de-DE" noProof="0" dirty="0"/>
          </a:p>
        </p:txBody>
      </p:sp>
      <p:sp>
        <p:nvSpPr>
          <p:cNvPr id="131" name="Shape 26">
            <a:extLst>
              <a:ext uri="{FF2B5EF4-FFF2-40B4-BE49-F238E27FC236}">
                <a16:creationId xmlns:a16="http://schemas.microsoft.com/office/drawing/2014/main" id="{0C515A09-88AA-CEBD-C0DF-9FB1EE7304C5}"/>
              </a:ext>
            </a:extLst>
          </p:cNvPr>
          <p:cNvSpPr/>
          <p:nvPr/>
        </p:nvSpPr>
        <p:spPr>
          <a:xfrm>
            <a:off x="1672819" y="2267712"/>
            <a:ext cx="301752" cy="301752"/>
          </a:xfrm>
          <a:prstGeom prst="rect">
            <a:avLst/>
          </a:prstGeom>
          <a:solidFill>
            <a:schemeClr val="accent6">
              <a:lumMod val="40000"/>
              <a:lumOff val="60000"/>
            </a:schemeClr>
          </a:solidFill>
          <a:ln/>
        </p:spPr>
        <p:txBody>
          <a:bodyPr/>
          <a:lstStyle/>
          <a:p>
            <a:endParaRPr lang="de-DE" noProof="0" dirty="0"/>
          </a:p>
        </p:txBody>
      </p:sp>
      <p:sp>
        <p:nvSpPr>
          <p:cNvPr id="132" name="Shape 27">
            <a:extLst>
              <a:ext uri="{FF2B5EF4-FFF2-40B4-BE49-F238E27FC236}">
                <a16:creationId xmlns:a16="http://schemas.microsoft.com/office/drawing/2014/main" id="{5E92C66F-0EC4-AA89-28EE-02DB7DDDD811}"/>
              </a:ext>
            </a:extLst>
          </p:cNvPr>
          <p:cNvSpPr/>
          <p:nvPr/>
        </p:nvSpPr>
        <p:spPr>
          <a:xfrm>
            <a:off x="2020291" y="2267712"/>
            <a:ext cx="301752" cy="301752"/>
          </a:xfrm>
          <a:prstGeom prst="rect">
            <a:avLst/>
          </a:prstGeom>
          <a:solidFill>
            <a:schemeClr val="accent4">
              <a:lumMod val="40000"/>
              <a:lumOff val="60000"/>
            </a:schemeClr>
          </a:solidFill>
          <a:ln/>
        </p:spPr>
        <p:txBody>
          <a:bodyPr/>
          <a:lstStyle/>
          <a:p>
            <a:endParaRPr lang="de-DE" noProof="0" dirty="0"/>
          </a:p>
        </p:txBody>
      </p:sp>
      <p:sp>
        <p:nvSpPr>
          <p:cNvPr id="133" name="Shape 28">
            <a:extLst>
              <a:ext uri="{FF2B5EF4-FFF2-40B4-BE49-F238E27FC236}">
                <a16:creationId xmlns:a16="http://schemas.microsoft.com/office/drawing/2014/main" id="{CFCC747D-78EE-3332-9306-2A1159AC6D5B}"/>
              </a:ext>
            </a:extLst>
          </p:cNvPr>
          <p:cNvSpPr/>
          <p:nvPr/>
        </p:nvSpPr>
        <p:spPr>
          <a:xfrm>
            <a:off x="2367763" y="2267712"/>
            <a:ext cx="301752" cy="301752"/>
          </a:xfrm>
          <a:prstGeom prst="rect">
            <a:avLst/>
          </a:prstGeom>
          <a:solidFill>
            <a:srgbClr val="FF0000"/>
          </a:solidFill>
          <a:ln/>
        </p:spPr>
        <p:txBody>
          <a:bodyPr/>
          <a:lstStyle/>
          <a:p>
            <a:endParaRPr lang="de-DE" noProof="0" dirty="0"/>
          </a:p>
        </p:txBody>
      </p:sp>
      <p:sp>
        <p:nvSpPr>
          <p:cNvPr id="134" name="Shape 29">
            <a:extLst>
              <a:ext uri="{FF2B5EF4-FFF2-40B4-BE49-F238E27FC236}">
                <a16:creationId xmlns:a16="http://schemas.microsoft.com/office/drawing/2014/main" id="{7E081D60-4896-A54B-7702-020F018E01F4}"/>
              </a:ext>
            </a:extLst>
          </p:cNvPr>
          <p:cNvSpPr/>
          <p:nvPr/>
        </p:nvSpPr>
        <p:spPr>
          <a:xfrm>
            <a:off x="2715235" y="2267712"/>
            <a:ext cx="301752" cy="301752"/>
          </a:xfrm>
          <a:prstGeom prst="rect">
            <a:avLst/>
          </a:prstGeom>
          <a:solidFill>
            <a:srgbClr val="FF0000"/>
          </a:solidFill>
          <a:ln/>
        </p:spPr>
        <p:txBody>
          <a:bodyPr/>
          <a:lstStyle/>
          <a:p>
            <a:endParaRPr lang="de-DE" noProof="0" dirty="0"/>
          </a:p>
        </p:txBody>
      </p:sp>
      <p:sp>
        <p:nvSpPr>
          <p:cNvPr id="135" name="Shape 30">
            <a:extLst>
              <a:ext uri="{FF2B5EF4-FFF2-40B4-BE49-F238E27FC236}">
                <a16:creationId xmlns:a16="http://schemas.microsoft.com/office/drawing/2014/main" id="{776FDCB5-9A4A-FA83-7349-612CAB681FBB}"/>
              </a:ext>
            </a:extLst>
          </p:cNvPr>
          <p:cNvSpPr/>
          <p:nvPr/>
        </p:nvSpPr>
        <p:spPr>
          <a:xfrm>
            <a:off x="3062707" y="2267712"/>
            <a:ext cx="301752" cy="301752"/>
          </a:xfrm>
          <a:prstGeom prst="rect">
            <a:avLst/>
          </a:prstGeom>
          <a:solidFill>
            <a:schemeClr val="accent4">
              <a:lumMod val="40000"/>
              <a:lumOff val="60000"/>
            </a:schemeClr>
          </a:solidFill>
          <a:ln/>
        </p:spPr>
        <p:txBody>
          <a:bodyPr/>
          <a:lstStyle/>
          <a:p>
            <a:endParaRPr lang="de-DE" noProof="0" dirty="0"/>
          </a:p>
        </p:txBody>
      </p:sp>
      <p:sp>
        <p:nvSpPr>
          <p:cNvPr id="136" name="Shape 31">
            <a:extLst>
              <a:ext uri="{FF2B5EF4-FFF2-40B4-BE49-F238E27FC236}">
                <a16:creationId xmlns:a16="http://schemas.microsoft.com/office/drawing/2014/main" id="{1EAE5D23-4706-FC63-1EB6-C6BF7E41E376}"/>
              </a:ext>
            </a:extLst>
          </p:cNvPr>
          <p:cNvSpPr/>
          <p:nvPr/>
        </p:nvSpPr>
        <p:spPr>
          <a:xfrm>
            <a:off x="3410179" y="2267712"/>
            <a:ext cx="301752" cy="301752"/>
          </a:xfrm>
          <a:prstGeom prst="rect">
            <a:avLst/>
          </a:prstGeom>
          <a:solidFill>
            <a:schemeClr val="accent6">
              <a:lumMod val="40000"/>
              <a:lumOff val="60000"/>
            </a:schemeClr>
          </a:solidFill>
          <a:ln/>
        </p:spPr>
        <p:txBody>
          <a:bodyPr/>
          <a:lstStyle/>
          <a:p>
            <a:endParaRPr lang="de-DE" noProof="0" dirty="0"/>
          </a:p>
        </p:txBody>
      </p:sp>
      <p:sp>
        <p:nvSpPr>
          <p:cNvPr id="137" name="Shape 32">
            <a:extLst>
              <a:ext uri="{FF2B5EF4-FFF2-40B4-BE49-F238E27FC236}">
                <a16:creationId xmlns:a16="http://schemas.microsoft.com/office/drawing/2014/main" id="{5E3D88BA-9FCF-1EB7-4E8A-C532272D6F50}"/>
              </a:ext>
            </a:extLst>
          </p:cNvPr>
          <p:cNvSpPr/>
          <p:nvPr/>
        </p:nvSpPr>
        <p:spPr>
          <a:xfrm>
            <a:off x="3757651" y="2267712"/>
            <a:ext cx="301752" cy="301752"/>
          </a:xfrm>
          <a:prstGeom prst="rect">
            <a:avLst/>
          </a:prstGeom>
          <a:solidFill>
            <a:srgbClr val="0F6E56"/>
          </a:solidFill>
          <a:ln/>
        </p:spPr>
        <p:txBody>
          <a:bodyPr/>
          <a:lstStyle/>
          <a:p>
            <a:endParaRPr lang="de-DE" noProof="0" dirty="0"/>
          </a:p>
        </p:txBody>
      </p:sp>
      <p:sp>
        <p:nvSpPr>
          <p:cNvPr id="138" name="Shape 33">
            <a:extLst>
              <a:ext uri="{FF2B5EF4-FFF2-40B4-BE49-F238E27FC236}">
                <a16:creationId xmlns:a16="http://schemas.microsoft.com/office/drawing/2014/main" id="{166349FA-4A58-1602-3EA5-58EB301FD7F6}"/>
              </a:ext>
            </a:extLst>
          </p:cNvPr>
          <p:cNvSpPr/>
          <p:nvPr/>
        </p:nvSpPr>
        <p:spPr>
          <a:xfrm>
            <a:off x="1325347" y="2615184"/>
            <a:ext cx="301752" cy="301752"/>
          </a:xfrm>
          <a:prstGeom prst="rect">
            <a:avLst/>
          </a:prstGeom>
          <a:solidFill>
            <a:schemeClr val="accent5">
              <a:lumMod val="50000"/>
            </a:schemeClr>
          </a:solidFill>
          <a:ln/>
        </p:spPr>
        <p:txBody>
          <a:bodyPr/>
          <a:lstStyle/>
          <a:p>
            <a:endParaRPr lang="de-DE" noProof="0" dirty="0"/>
          </a:p>
        </p:txBody>
      </p:sp>
      <p:sp>
        <p:nvSpPr>
          <p:cNvPr id="139" name="Shape 34">
            <a:extLst>
              <a:ext uri="{FF2B5EF4-FFF2-40B4-BE49-F238E27FC236}">
                <a16:creationId xmlns:a16="http://schemas.microsoft.com/office/drawing/2014/main" id="{E4BE1905-AD83-A799-C5C2-E8F34B8B56B1}"/>
              </a:ext>
            </a:extLst>
          </p:cNvPr>
          <p:cNvSpPr/>
          <p:nvPr/>
        </p:nvSpPr>
        <p:spPr>
          <a:xfrm>
            <a:off x="1672819" y="2615184"/>
            <a:ext cx="301752" cy="301752"/>
          </a:xfrm>
          <a:prstGeom prst="rect">
            <a:avLst/>
          </a:prstGeom>
          <a:solidFill>
            <a:schemeClr val="accent6">
              <a:lumMod val="40000"/>
              <a:lumOff val="60000"/>
            </a:schemeClr>
          </a:solidFill>
          <a:ln/>
        </p:spPr>
        <p:txBody>
          <a:bodyPr/>
          <a:lstStyle/>
          <a:p>
            <a:endParaRPr lang="de-DE" noProof="0" dirty="0"/>
          </a:p>
        </p:txBody>
      </p:sp>
      <p:sp>
        <p:nvSpPr>
          <p:cNvPr id="140" name="Shape 35">
            <a:extLst>
              <a:ext uri="{FF2B5EF4-FFF2-40B4-BE49-F238E27FC236}">
                <a16:creationId xmlns:a16="http://schemas.microsoft.com/office/drawing/2014/main" id="{A5AB7D91-46BF-F846-4389-70589A632896}"/>
              </a:ext>
            </a:extLst>
          </p:cNvPr>
          <p:cNvSpPr/>
          <p:nvPr/>
        </p:nvSpPr>
        <p:spPr>
          <a:xfrm>
            <a:off x="2020291" y="2615184"/>
            <a:ext cx="301752" cy="301752"/>
          </a:xfrm>
          <a:prstGeom prst="rect">
            <a:avLst/>
          </a:prstGeom>
          <a:solidFill>
            <a:schemeClr val="accent4">
              <a:lumMod val="40000"/>
              <a:lumOff val="60000"/>
            </a:schemeClr>
          </a:solidFill>
          <a:ln/>
        </p:spPr>
        <p:txBody>
          <a:bodyPr/>
          <a:lstStyle/>
          <a:p>
            <a:endParaRPr lang="de-DE" noProof="0" dirty="0"/>
          </a:p>
        </p:txBody>
      </p:sp>
      <p:sp>
        <p:nvSpPr>
          <p:cNvPr id="141" name="Shape 36">
            <a:extLst>
              <a:ext uri="{FF2B5EF4-FFF2-40B4-BE49-F238E27FC236}">
                <a16:creationId xmlns:a16="http://schemas.microsoft.com/office/drawing/2014/main" id="{693426CA-33A1-DE46-8E4B-9BF1B531EB05}"/>
              </a:ext>
            </a:extLst>
          </p:cNvPr>
          <p:cNvSpPr/>
          <p:nvPr/>
        </p:nvSpPr>
        <p:spPr>
          <a:xfrm>
            <a:off x="2367763" y="2615184"/>
            <a:ext cx="301752" cy="301752"/>
          </a:xfrm>
          <a:prstGeom prst="rect">
            <a:avLst/>
          </a:prstGeom>
          <a:solidFill>
            <a:srgbClr val="FF0000"/>
          </a:solidFill>
          <a:ln/>
        </p:spPr>
        <p:txBody>
          <a:bodyPr/>
          <a:lstStyle/>
          <a:p>
            <a:endParaRPr lang="de-DE" noProof="0" dirty="0"/>
          </a:p>
        </p:txBody>
      </p:sp>
      <p:sp>
        <p:nvSpPr>
          <p:cNvPr id="142" name="Shape 37">
            <a:extLst>
              <a:ext uri="{FF2B5EF4-FFF2-40B4-BE49-F238E27FC236}">
                <a16:creationId xmlns:a16="http://schemas.microsoft.com/office/drawing/2014/main" id="{FB7B7BFC-F063-D1EA-A116-0EAD197E8039}"/>
              </a:ext>
            </a:extLst>
          </p:cNvPr>
          <p:cNvSpPr/>
          <p:nvPr/>
        </p:nvSpPr>
        <p:spPr>
          <a:xfrm>
            <a:off x="2715235" y="2615184"/>
            <a:ext cx="301752" cy="301752"/>
          </a:xfrm>
          <a:prstGeom prst="rect">
            <a:avLst/>
          </a:prstGeom>
          <a:solidFill>
            <a:srgbClr val="FF0000"/>
          </a:solidFill>
          <a:ln/>
        </p:spPr>
        <p:txBody>
          <a:bodyPr/>
          <a:lstStyle/>
          <a:p>
            <a:endParaRPr lang="de-DE" noProof="0" dirty="0"/>
          </a:p>
        </p:txBody>
      </p:sp>
      <p:sp>
        <p:nvSpPr>
          <p:cNvPr id="143" name="Shape 38">
            <a:extLst>
              <a:ext uri="{FF2B5EF4-FFF2-40B4-BE49-F238E27FC236}">
                <a16:creationId xmlns:a16="http://schemas.microsoft.com/office/drawing/2014/main" id="{70FA2841-4C6C-7AEC-8356-0ADACE9C0ECB}"/>
              </a:ext>
            </a:extLst>
          </p:cNvPr>
          <p:cNvSpPr/>
          <p:nvPr/>
        </p:nvSpPr>
        <p:spPr>
          <a:xfrm>
            <a:off x="3062707" y="2615184"/>
            <a:ext cx="301752" cy="301752"/>
          </a:xfrm>
          <a:prstGeom prst="rect">
            <a:avLst/>
          </a:prstGeom>
          <a:solidFill>
            <a:schemeClr val="accent4">
              <a:lumMod val="40000"/>
              <a:lumOff val="60000"/>
            </a:schemeClr>
          </a:solidFill>
          <a:ln/>
        </p:spPr>
        <p:txBody>
          <a:bodyPr/>
          <a:lstStyle/>
          <a:p>
            <a:endParaRPr lang="de-DE" noProof="0" dirty="0"/>
          </a:p>
        </p:txBody>
      </p:sp>
      <p:sp>
        <p:nvSpPr>
          <p:cNvPr id="144" name="Shape 39">
            <a:extLst>
              <a:ext uri="{FF2B5EF4-FFF2-40B4-BE49-F238E27FC236}">
                <a16:creationId xmlns:a16="http://schemas.microsoft.com/office/drawing/2014/main" id="{161618EC-5C08-A4B4-D84A-11BFF0CF428B}"/>
              </a:ext>
            </a:extLst>
          </p:cNvPr>
          <p:cNvSpPr/>
          <p:nvPr/>
        </p:nvSpPr>
        <p:spPr>
          <a:xfrm>
            <a:off x="3410179" y="2615184"/>
            <a:ext cx="301752" cy="301752"/>
          </a:xfrm>
          <a:prstGeom prst="rect">
            <a:avLst/>
          </a:prstGeom>
          <a:solidFill>
            <a:schemeClr val="accent4">
              <a:lumMod val="40000"/>
              <a:lumOff val="60000"/>
            </a:schemeClr>
          </a:solidFill>
          <a:ln/>
        </p:spPr>
        <p:txBody>
          <a:bodyPr/>
          <a:lstStyle/>
          <a:p>
            <a:endParaRPr lang="de-DE" noProof="0" dirty="0"/>
          </a:p>
        </p:txBody>
      </p:sp>
      <p:sp>
        <p:nvSpPr>
          <p:cNvPr id="145" name="Shape 40">
            <a:extLst>
              <a:ext uri="{FF2B5EF4-FFF2-40B4-BE49-F238E27FC236}">
                <a16:creationId xmlns:a16="http://schemas.microsoft.com/office/drawing/2014/main" id="{13471A21-E6F2-CAAB-9E61-482EF2717837}"/>
              </a:ext>
            </a:extLst>
          </p:cNvPr>
          <p:cNvSpPr/>
          <p:nvPr/>
        </p:nvSpPr>
        <p:spPr>
          <a:xfrm>
            <a:off x="3757651" y="2615184"/>
            <a:ext cx="301752" cy="301752"/>
          </a:xfrm>
          <a:prstGeom prst="rect">
            <a:avLst/>
          </a:prstGeom>
          <a:solidFill>
            <a:schemeClr val="accent5">
              <a:lumMod val="50000"/>
            </a:schemeClr>
          </a:solidFill>
          <a:ln/>
        </p:spPr>
        <p:txBody>
          <a:bodyPr/>
          <a:lstStyle/>
          <a:p>
            <a:endParaRPr lang="de-DE" noProof="0" dirty="0"/>
          </a:p>
        </p:txBody>
      </p:sp>
      <p:sp>
        <p:nvSpPr>
          <p:cNvPr id="146" name="Shape 41">
            <a:extLst>
              <a:ext uri="{FF2B5EF4-FFF2-40B4-BE49-F238E27FC236}">
                <a16:creationId xmlns:a16="http://schemas.microsoft.com/office/drawing/2014/main" id="{6A5DEB53-7FD4-E212-3CEB-FEE70FDE8A3C}"/>
              </a:ext>
            </a:extLst>
          </p:cNvPr>
          <p:cNvSpPr/>
          <p:nvPr/>
        </p:nvSpPr>
        <p:spPr>
          <a:xfrm>
            <a:off x="1325347" y="2962656"/>
            <a:ext cx="301752" cy="301752"/>
          </a:xfrm>
          <a:prstGeom prst="rect">
            <a:avLst/>
          </a:prstGeom>
          <a:solidFill>
            <a:schemeClr val="accent5">
              <a:lumMod val="50000"/>
            </a:schemeClr>
          </a:solidFill>
          <a:ln/>
        </p:spPr>
        <p:txBody>
          <a:bodyPr/>
          <a:lstStyle/>
          <a:p>
            <a:endParaRPr lang="de-DE" noProof="0" dirty="0"/>
          </a:p>
        </p:txBody>
      </p:sp>
      <p:sp>
        <p:nvSpPr>
          <p:cNvPr id="147" name="Shape 42">
            <a:extLst>
              <a:ext uri="{FF2B5EF4-FFF2-40B4-BE49-F238E27FC236}">
                <a16:creationId xmlns:a16="http://schemas.microsoft.com/office/drawing/2014/main" id="{89A25932-28D8-C146-6FFE-D8B72110A208}"/>
              </a:ext>
            </a:extLst>
          </p:cNvPr>
          <p:cNvSpPr/>
          <p:nvPr/>
        </p:nvSpPr>
        <p:spPr>
          <a:xfrm>
            <a:off x="1672819" y="2962656"/>
            <a:ext cx="301752" cy="301752"/>
          </a:xfrm>
          <a:prstGeom prst="rect">
            <a:avLst/>
          </a:prstGeom>
          <a:solidFill>
            <a:schemeClr val="accent1">
              <a:lumMod val="75000"/>
            </a:schemeClr>
          </a:solidFill>
          <a:ln/>
        </p:spPr>
        <p:txBody>
          <a:bodyPr/>
          <a:lstStyle/>
          <a:p>
            <a:endParaRPr lang="de-DE" noProof="0" dirty="0"/>
          </a:p>
        </p:txBody>
      </p:sp>
      <p:sp>
        <p:nvSpPr>
          <p:cNvPr id="148" name="Shape 43">
            <a:extLst>
              <a:ext uri="{FF2B5EF4-FFF2-40B4-BE49-F238E27FC236}">
                <a16:creationId xmlns:a16="http://schemas.microsoft.com/office/drawing/2014/main" id="{488A9042-D3E1-A0B0-8093-8A501F31C6A4}"/>
              </a:ext>
            </a:extLst>
          </p:cNvPr>
          <p:cNvSpPr/>
          <p:nvPr/>
        </p:nvSpPr>
        <p:spPr>
          <a:xfrm>
            <a:off x="2020291" y="2962656"/>
            <a:ext cx="301752" cy="301752"/>
          </a:xfrm>
          <a:prstGeom prst="rect">
            <a:avLst/>
          </a:prstGeom>
          <a:solidFill>
            <a:schemeClr val="accent4">
              <a:lumMod val="40000"/>
              <a:lumOff val="60000"/>
            </a:schemeClr>
          </a:solidFill>
          <a:ln/>
        </p:spPr>
        <p:txBody>
          <a:bodyPr/>
          <a:lstStyle/>
          <a:p>
            <a:endParaRPr lang="de-DE" noProof="0" dirty="0"/>
          </a:p>
        </p:txBody>
      </p:sp>
      <p:sp>
        <p:nvSpPr>
          <p:cNvPr id="149" name="Shape 44">
            <a:extLst>
              <a:ext uri="{FF2B5EF4-FFF2-40B4-BE49-F238E27FC236}">
                <a16:creationId xmlns:a16="http://schemas.microsoft.com/office/drawing/2014/main" id="{5959C16B-AB90-AFF5-A985-53631604DA33}"/>
              </a:ext>
            </a:extLst>
          </p:cNvPr>
          <p:cNvSpPr/>
          <p:nvPr/>
        </p:nvSpPr>
        <p:spPr>
          <a:xfrm>
            <a:off x="2367763" y="2962656"/>
            <a:ext cx="301752" cy="301752"/>
          </a:xfrm>
          <a:prstGeom prst="rect">
            <a:avLst/>
          </a:prstGeom>
          <a:solidFill>
            <a:schemeClr val="accent4">
              <a:lumMod val="40000"/>
              <a:lumOff val="60000"/>
            </a:schemeClr>
          </a:solidFill>
          <a:ln/>
        </p:spPr>
        <p:txBody>
          <a:bodyPr/>
          <a:lstStyle/>
          <a:p>
            <a:endParaRPr lang="de-DE" noProof="0" dirty="0"/>
          </a:p>
        </p:txBody>
      </p:sp>
      <p:sp>
        <p:nvSpPr>
          <p:cNvPr id="150" name="Shape 45">
            <a:extLst>
              <a:ext uri="{FF2B5EF4-FFF2-40B4-BE49-F238E27FC236}">
                <a16:creationId xmlns:a16="http://schemas.microsoft.com/office/drawing/2014/main" id="{D2BF775B-0811-488E-6B6B-107EF992122B}"/>
              </a:ext>
            </a:extLst>
          </p:cNvPr>
          <p:cNvSpPr/>
          <p:nvPr/>
        </p:nvSpPr>
        <p:spPr>
          <a:xfrm>
            <a:off x="2715235" y="2962656"/>
            <a:ext cx="301752" cy="301752"/>
          </a:xfrm>
          <a:prstGeom prst="rect">
            <a:avLst/>
          </a:prstGeom>
          <a:solidFill>
            <a:srgbClr val="FF0000"/>
          </a:solidFill>
          <a:ln/>
        </p:spPr>
        <p:txBody>
          <a:bodyPr/>
          <a:lstStyle/>
          <a:p>
            <a:endParaRPr lang="de-DE" noProof="0" dirty="0"/>
          </a:p>
        </p:txBody>
      </p:sp>
      <p:sp>
        <p:nvSpPr>
          <p:cNvPr id="151" name="Shape 46">
            <a:extLst>
              <a:ext uri="{FF2B5EF4-FFF2-40B4-BE49-F238E27FC236}">
                <a16:creationId xmlns:a16="http://schemas.microsoft.com/office/drawing/2014/main" id="{52205DEC-83DF-00A4-1DBE-376177C21B42}"/>
              </a:ext>
            </a:extLst>
          </p:cNvPr>
          <p:cNvSpPr/>
          <p:nvPr/>
        </p:nvSpPr>
        <p:spPr>
          <a:xfrm>
            <a:off x="3062707" y="2962656"/>
            <a:ext cx="301752" cy="301752"/>
          </a:xfrm>
          <a:prstGeom prst="rect">
            <a:avLst/>
          </a:prstGeom>
          <a:solidFill>
            <a:schemeClr val="accent4">
              <a:lumMod val="40000"/>
              <a:lumOff val="60000"/>
            </a:schemeClr>
          </a:solidFill>
          <a:ln/>
        </p:spPr>
        <p:txBody>
          <a:bodyPr/>
          <a:lstStyle/>
          <a:p>
            <a:endParaRPr lang="de-DE" noProof="0" dirty="0"/>
          </a:p>
        </p:txBody>
      </p:sp>
      <p:sp>
        <p:nvSpPr>
          <p:cNvPr id="152" name="Shape 47">
            <a:extLst>
              <a:ext uri="{FF2B5EF4-FFF2-40B4-BE49-F238E27FC236}">
                <a16:creationId xmlns:a16="http://schemas.microsoft.com/office/drawing/2014/main" id="{6385F4DA-7824-1E27-4A39-80334BE79726}"/>
              </a:ext>
            </a:extLst>
          </p:cNvPr>
          <p:cNvSpPr/>
          <p:nvPr/>
        </p:nvSpPr>
        <p:spPr>
          <a:xfrm>
            <a:off x="3410179" y="2962656"/>
            <a:ext cx="301752" cy="301752"/>
          </a:xfrm>
          <a:prstGeom prst="rect">
            <a:avLst/>
          </a:prstGeom>
          <a:solidFill>
            <a:schemeClr val="accent6">
              <a:lumMod val="40000"/>
              <a:lumOff val="60000"/>
            </a:schemeClr>
          </a:solidFill>
          <a:ln/>
        </p:spPr>
        <p:txBody>
          <a:bodyPr/>
          <a:lstStyle/>
          <a:p>
            <a:endParaRPr lang="de-DE" noProof="0" dirty="0"/>
          </a:p>
        </p:txBody>
      </p:sp>
      <p:sp>
        <p:nvSpPr>
          <p:cNvPr id="153" name="Shape 48">
            <a:extLst>
              <a:ext uri="{FF2B5EF4-FFF2-40B4-BE49-F238E27FC236}">
                <a16:creationId xmlns:a16="http://schemas.microsoft.com/office/drawing/2014/main" id="{862E7FF9-2921-A17A-89B8-94A9490A2699}"/>
              </a:ext>
            </a:extLst>
          </p:cNvPr>
          <p:cNvSpPr/>
          <p:nvPr/>
        </p:nvSpPr>
        <p:spPr>
          <a:xfrm>
            <a:off x="3757651" y="2962656"/>
            <a:ext cx="301752" cy="301752"/>
          </a:xfrm>
          <a:prstGeom prst="rect">
            <a:avLst/>
          </a:prstGeom>
          <a:solidFill>
            <a:schemeClr val="accent5">
              <a:lumMod val="50000"/>
            </a:schemeClr>
          </a:solidFill>
          <a:ln/>
        </p:spPr>
        <p:txBody>
          <a:bodyPr/>
          <a:lstStyle/>
          <a:p>
            <a:endParaRPr lang="de-DE" noProof="0" dirty="0"/>
          </a:p>
        </p:txBody>
      </p:sp>
      <p:sp>
        <p:nvSpPr>
          <p:cNvPr id="154" name="Shape 49">
            <a:extLst>
              <a:ext uri="{FF2B5EF4-FFF2-40B4-BE49-F238E27FC236}">
                <a16:creationId xmlns:a16="http://schemas.microsoft.com/office/drawing/2014/main" id="{3F03E27B-4947-CD01-ABA9-8B93FDA0605B}"/>
              </a:ext>
            </a:extLst>
          </p:cNvPr>
          <p:cNvSpPr/>
          <p:nvPr/>
        </p:nvSpPr>
        <p:spPr>
          <a:xfrm>
            <a:off x="1325347" y="3310128"/>
            <a:ext cx="301752" cy="301752"/>
          </a:xfrm>
          <a:prstGeom prst="rect">
            <a:avLst/>
          </a:prstGeom>
          <a:solidFill>
            <a:schemeClr val="accent5">
              <a:lumMod val="50000"/>
            </a:schemeClr>
          </a:solidFill>
          <a:ln/>
        </p:spPr>
        <p:txBody>
          <a:bodyPr/>
          <a:lstStyle/>
          <a:p>
            <a:endParaRPr lang="de-DE" noProof="0" dirty="0"/>
          </a:p>
        </p:txBody>
      </p:sp>
      <p:sp>
        <p:nvSpPr>
          <p:cNvPr id="155" name="Shape 50">
            <a:extLst>
              <a:ext uri="{FF2B5EF4-FFF2-40B4-BE49-F238E27FC236}">
                <a16:creationId xmlns:a16="http://schemas.microsoft.com/office/drawing/2014/main" id="{2C5FAD4A-0E57-6050-DCCB-6A207B623CFC}"/>
              </a:ext>
            </a:extLst>
          </p:cNvPr>
          <p:cNvSpPr/>
          <p:nvPr/>
        </p:nvSpPr>
        <p:spPr>
          <a:xfrm>
            <a:off x="1672819" y="3310128"/>
            <a:ext cx="301752" cy="301752"/>
          </a:xfrm>
          <a:prstGeom prst="rect">
            <a:avLst/>
          </a:prstGeom>
          <a:solidFill>
            <a:schemeClr val="accent5">
              <a:lumMod val="50000"/>
            </a:schemeClr>
          </a:solidFill>
          <a:ln/>
        </p:spPr>
        <p:txBody>
          <a:bodyPr/>
          <a:lstStyle/>
          <a:p>
            <a:endParaRPr lang="de-DE" noProof="0" dirty="0"/>
          </a:p>
        </p:txBody>
      </p:sp>
      <p:sp>
        <p:nvSpPr>
          <p:cNvPr id="156" name="Shape 51">
            <a:extLst>
              <a:ext uri="{FF2B5EF4-FFF2-40B4-BE49-F238E27FC236}">
                <a16:creationId xmlns:a16="http://schemas.microsoft.com/office/drawing/2014/main" id="{AF92B3A3-2EA5-3E43-9F31-A539D5A2C26A}"/>
              </a:ext>
            </a:extLst>
          </p:cNvPr>
          <p:cNvSpPr/>
          <p:nvPr/>
        </p:nvSpPr>
        <p:spPr>
          <a:xfrm>
            <a:off x="2020291" y="3310128"/>
            <a:ext cx="301752" cy="301752"/>
          </a:xfrm>
          <a:prstGeom prst="rect">
            <a:avLst/>
          </a:prstGeom>
          <a:solidFill>
            <a:schemeClr val="accent6">
              <a:lumMod val="40000"/>
              <a:lumOff val="60000"/>
            </a:schemeClr>
          </a:solidFill>
          <a:ln/>
        </p:spPr>
        <p:txBody>
          <a:bodyPr/>
          <a:lstStyle/>
          <a:p>
            <a:endParaRPr lang="de-DE" noProof="0" dirty="0"/>
          </a:p>
        </p:txBody>
      </p:sp>
      <p:sp>
        <p:nvSpPr>
          <p:cNvPr id="157" name="Shape 52">
            <a:extLst>
              <a:ext uri="{FF2B5EF4-FFF2-40B4-BE49-F238E27FC236}">
                <a16:creationId xmlns:a16="http://schemas.microsoft.com/office/drawing/2014/main" id="{FD643EDC-2F70-0D5D-BA2D-993673115618}"/>
              </a:ext>
            </a:extLst>
          </p:cNvPr>
          <p:cNvSpPr/>
          <p:nvPr/>
        </p:nvSpPr>
        <p:spPr>
          <a:xfrm>
            <a:off x="2367763" y="3310128"/>
            <a:ext cx="301752" cy="301752"/>
          </a:xfrm>
          <a:prstGeom prst="rect">
            <a:avLst/>
          </a:prstGeom>
          <a:solidFill>
            <a:schemeClr val="accent6">
              <a:lumMod val="40000"/>
              <a:lumOff val="60000"/>
            </a:schemeClr>
          </a:solidFill>
          <a:ln/>
        </p:spPr>
        <p:txBody>
          <a:bodyPr/>
          <a:lstStyle/>
          <a:p>
            <a:endParaRPr lang="de-DE" noProof="0" dirty="0"/>
          </a:p>
        </p:txBody>
      </p:sp>
      <p:sp>
        <p:nvSpPr>
          <p:cNvPr id="158" name="Shape 53">
            <a:extLst>
              <a:ext uri="{FF2B5EF4-FFF2-40B4-BE49-F238E27FC236}">
                <a16:creationId xmlns:a16="http://schemas.microsoft.com/office/drawing/2014/main" id="{B796A01E-30D4-8526-7C9C-4E8F56100188}"/>
              </a:ext>
            </a:extLst>
          </p:cNvPr>
          <p:cNvSpPr/>
          <p:nvPr/>
        </p:nvSpPr>
        <p:spPr>
          <a:xfrm>
            <a:off x="2715235" y="3310128"/>
            <a:ext cx="301752" cy="301752"/>
          </a:xfrm>
          <a:prstGeom prst="rect">
            <a:avLst/>
          </a:prstGeom>
          <a:solidFill>
            <a:schemeClr val="accent4">
              <a:lumMod val="40000"/>
              <a:lumOff val="60000"/>
            </a:schemeClr>
          </a:solidFill>
          <a:ln/>
        </p:spPr>
        <p:txBody>
          <a:bodyPr/>
          <a:lstStyle/>
          <a:p>
            <a:endParaRPr lang="de-DE" noProof="0" dirty="0"/>
          </a:p>
        </p:txBody>
      </p:sp>
      <p:sp>
        <p:nvSpPr>
          <p:cNvPr id="159" name="Shape 54">
            <a:extLst>
              <a:ext uri="{FF2B5EF4-FFF2-40B4-BE49-F238E27FC236}">
                <a16:creationId xmlns:a16="http://schemas.microsoft.com/office/drawing/2014/main" id="{F696935D-2A76-E5EC-B3E2-002C343165EB}"/>
              </a:ext>
            </a:extLst>
          </p:cNvPr>
          <p:cNvSpPr/>
          <p:nvPr/>
        </p:nvSpPr>
        <p:spPr>
          <a:xfrm>
            <a:off x="3062707" y="3310128"/>
            <a:ext cx="301752" cy="301752"/>
          </a:xfrm>
          <a:prstGeom prst="rect">
            <a:avLst/>
          </a:prstGeom>
          <a:solidFill>
            <a:schemeClr val="accent4">
              <a:lumMod val="40000"/>
              <a:lumOff val="60000"/>
            </a:schemeClr>
          </a:solidFill>
          <a:ln/>
        </p:spPr>
        <p:txBody>
          <a:bodyPr/>
          <a:lstStyle/>
          <a:p>
            <a:endParaRPr lang="de-DE" noProof="0" dirty="0"/>
          </a:p>
        </p:txBody>
      </p:sp>
      <p:sp>
        <p:nvSpPr>
          <p:cNvPr id="160" name="Shape 55">
            <a:extLst>
              <a:ext uri="{FF2B5EF4-FFF2-40B4-BE49-F238E27FC236}">
                <a16:creationId xmlns:a16="http://schemas.microsoft.com/office/drawing/2014/main" id="{411C8484-57DB-66E0-22D5-34E3BF3C3735}"/>
              </a:ext>
            </a:extLst>
          </p:cNvPr>
          <p:cNvSpPr/>
          <p:nvPr/>
        </p:nvSpPr>
        <p:spPr>
          <a:xfrm>
            <a:off x="3410179" y="3310128"/>
            <a:ext cx="301752" cy="301752"/>
          </a:xfrm>
          <a:prstGeom prst="rect">
            <a:avLst/>
          </a:prstGeom>
          <a:solidFill>
            <a:schemeClr val="accent6">
              <a:lumMod val="40000"/>
              <a:lumOff val="60000"/>
            </a:schemeClr>
          </a:solidFill>
          <a:ln/>
        </p:spPr>
        <p:txBody>
          <a:bodyPr/>
          <a:lstStyle/>
          <a:p>
            <a:endParaRPr lang="de-DE" noProof="0" dirty="0"/>
          </a:p>
        </p:txBody>
      </p:sp>
      <p:sp>
        <p:nvSpPr>
          <p:cNvPr id="161" name="Shape 56">
            <a:extLst>
              <a:ext uri="{FF2B5EF4-FFF2-40B4-BE49-F238E27FC236}">
                <a16:creationId xmlns:a16="http://schemas.microsoft.com/office/drawing/2014/main" id="{2EF91768-4C27-8DED-D86D-78036DF9CD64}"/>
              </a:ext>
            </a:extLst>
          </p:cNvPr>
          <p:cNvSpPr/>
          <p:nvPr/>
        </p:nvSpPr>
        <p:spPr>
          <a:xfrm>
            <a:off x="3757651" y="3310128"/>
            <a:ext cx="301752" cy="301752"/>
          </a:xfrm>
          <a:prstGeom prst="rect">
            <a:avLst/>
          </a:prstGeom>
          <a:solidFill>
            <a:schemeClr val="accent5">
              <a:lumMod val="50000"/>
            </a:schemeClr>
          </a:solidFill>
          <a:ln/>
        </p:spPr>
        <p:txBody>
          <a:bodyPr/>
          <a:lstStyle/>
          <a:p>
            <a:endParaRPr lang="de-DE" noProof="0" dirty="0"/>
          </a:p>
        </p:txBody>
      </p:sp>
      <p:sp>
        <p:nvSpPr>
          <p:cNvPr id="162" name="Shape 57">
            <a:extLst>
              <a:ext uri="{FF2B5EF4-FFF2-40B4-BE49-F238E27FC236}">
                <a16:creationId xmlns:a16="http://schemas.microsoft.com/office/drawing/2014/main" id="{D47D34EF-F91B-207B-91AC-9D2BDD687DCC}"/>
              </a:ext>
            </a:extLst>
          </p:cNvPr>
          <p:cNvSpPr/>
          <p:nvPr/>
        </p:nvSpPr>
        <p:spPr>
          <a:xfrm>
            <a:off x="1325347" y="3657600"/>
            <a:ext cx="301752" cy="301752"/>
          </a:xfrm>
          <a:prstGeom prst="rect">
            <a:avLst/>
          </a:prstGeom>
          <a:solidFill>
            <a:schemeClr val="accent5">
              <a:lumMod val="50000"/>
            </a:schemeClr>
          </a:solidFill>
          <a:ln/>
        </p:spPr>
        <p:txBody>
          <a:bodyPr/>
          <a:lstStyle/>
          <a:p>
            <a:endParaRPr lang="de-DE" noProof="0" dirty="0"/>
          </a:p>
        </p:txBody>
      </p:sp>
      <p:sp>
        <p:nvSpPr>
          <p:cNvPr id="163" name="Shape 58">
            <a:extLst>
              <a:ext uri="{FF2B5EF4-FFF2-40B4-BE49-F238E27FC236}">
                <a16:creationId xmlns:a16="http://schemas.microsoft.com/office/drawing/2014/main" id="{64D7AF2A-DF59-82BB-F444-A7D583E6F1F0}"/>
              </a:ext>
            </a:extLst>
          </p:cNvPr>
          <p:cNvSpPr/>
          <p:nvPr/>
        </p:nvSpPr>
        <p:spPr>
          <a:xfrm>
            <a:off x="1672819" y="3657600"/>
            <a:ext cx="301752" cy="301752"/>
          </a:xfrm>
          <a:prstGeom prst="rect">
            <a:avLst/>
          </a:prstGeom>
          <a:solidFill>
            <a:schemeClr val="accent5">
              <a:lumMod val="50000"/>
            </a:schemeClr>
          </a:solidFill>
          <a:ln/>
        </p:spPr>
        <p:txBody>
          <a:bodyPr/>
          <a:lstStyle/>
          <a:p>
            <a:endParaRPr lang="de-DE" noProof="0" dirty="0"/>
          </a:p>
        </p:txBody>
      </p:sp>
      <p:sp>
        <p:nvSpPr>
          <p:cNvPr id="164" name="Shape 59">
            <a:extLst>
              <a:ext uri="{FF2B5EF4-FFF2-40B4-BE49-F238E27FC236}">
                <a16:creationId xmlns:a16="http://schemas.microsoft.com/office/drawing/2014/main" id="{BF3B5930-D0B4-0952-4847-B6CF09BCD2E2}"/>
              </a:ext>
            </a:extLst>
          </p:cNvPr>
          <p:cNvSpPr/>
          <p:nvPr/>
        </p:nvSpPr>
        <p:spPr>
          <a:xfrm>
            <a:off x="2020291" y="3657600"/>
            <a:ext cx="301752" cy="301752"/>
          </a:xfrm>
          <a:prstGeom prst="rect">
            <a:avLst/>
          </a:prstGeom>
          <a:solidFill>
            <a:schemeClr val="accent5">
              <a:lumMod val="50000"/>
            </a:schemeClr>
          </a:solidFill>
          <a:ln/>
        </p:spPr>
        <p:txBody>
          <a:bodyPr/>
          <a:lstStyle/>
          <a:p>
            <a:endParaRPr lang="de-DE" noProof="0" dirty="0"/>
          </a:p>
        </p:txBody>
      </p:sp>
      <p:sp>
        <p:nvSpPr>
          <p:cNvPr id="165" name="Shape 60">
            <a:extLst>
              <a:ext uri="{FF2B5EF4-FFF2-40B4-BE49-F238E27FC236}">
                <a16:creationId xmlns:a16="http://schemas.microsoft.com/office/drawing/2014/main" id="{A4CF24C3-4DC5-D356-653E-D7CFA7867883}"/>
              </a:ext>
            </a:extLst>
          </p:cNvPr>
          <p:cNvSpPr/>
          <p:nvPr/>
        </p:nvSpPr>
        <p:spPr>
          <a:xfrm>
            <a:off x="2367763" y="3657600"/>
            <a:ext cx="301752" cy="301752"/>
          </a:xfrm>
          <a:prstGeom prst="rect">
            <a:avLst/>
          </a:prstGeom>
          <a:solidFill>
            <a:schemeClr val="accent5">
              <a:lumMod val="50000"/>
            </a:schemeClr>
          </a:solidFill>
          <a:ln/>
        </p:spPr>
        <p:txBody>
          <a:bodyPr/>
          <a:lstStyle/>
          <a:p>
            <a:endParaRPr lang="de-DE" noProof="0" dirty="0"/>
          </a:p>
        </p:txBody>
      </p:sp>
      <p:sp>
        <p:nvSpPr>
          <p:cNvPr id="166" name="Shape 61">
            <a:extLst>
              <a:ext uri="{FF2B5EF4-FFF2-40B4-BE49-F238E27FC236}">
                <a16:creationId xmlns:a16="http://schemas.microsoft.com/office/drawing/2014/main" id="{4332CC28-65B8-166B-DC4B-246E7D5A2CD5}"/>
              </a:ext>
            </a:extLst>
          </p:cNvPr>
          <p:cNvSpPr/>
          <p:nvPr/>
        </p:nvSpPr>
        <p:spPr>
          <a:xfrm>
            <a:off x="2715235" y="3657600"/>
            <a:ext cx="301752" cy="301752"/>
          </a:xfrm>
          <a:prstGeom prst="rect">
            <a:avLst/>
          </a:prstGeom>
          <a:solidFill>
            <a:schemeClr val="accent5">
              <a:lumMod val="50000"/>
            </a:schemeClr>
          </a:solidFill>
          <a:ln/>
        </p:spPr>
        <p:txBody>
          <a:bodyPr/>
          <a:lstStyle/>
          <a:p>
            <a:endParaRPr lang="de-DE" noProof="0" dirty="0"/>
          </a:p>
        </p:txBody>
      </p:sp>
      <p:sp>
        <p:nvSpPr>
          <p:cNvPr id="167" name="Shape 62">
            <a:extLst>
              <a:ext uri="{FF2B5EF4-FFF2-40B4-BE49-F238E27FC236}">
                <a16:creationId xmlns:a16="http://schemas.microsoft.com/office/drawing/2014/main" id="{6576A3F9-CF47-E6C4-AEC3-134DB07B3BC5}"/>
              </a:ext>
            </a:extLst>
          </p:cNvPr>
          <p:cNvSpPr/>
          <p:nvPr/>
        </p:nvSpPr>
        <p:spPr>
          <a:xfrm>
            <a:off x="3062707" y="3657600"/>
            <a:ext cx="301752" cy="301752"/>
          </a:xfrm>
          <a:prstGeom prst="rect">
            <a:avLst/>
          </a:prstGeom>
          <a:solidFill>
            <a:schemeClr val="accent6">
              <a:lumMod val="40000"/>
              <a:lumOff val="60000"/>
            </a:schemeClr>
          </a:solidFill>
          <a:ln/>
        </p:spPr>
        <p:txBody>
          <a:bodyPr/>
          <a:lstStyle/>
          <a:p>
            <a:endParaRPr lang="de-DE" noProof="0" dirty="0"/>
          </a:p>
        </p:txBody>
      </p:sp>
      <p:sp>
        <p:nvSpPr>
          <p:cNvPr id="168" name="Shape 63">
            <a:extLst>
              <a:ext uri="{FF2B5EF4-FFF2-40B4-BE49-F238E27FC236}">
                <a16:creationId xmlns:a16="http://schemas.microsoft.com/office/drawing/2014/main" id="{7898E362-5901-A5AD-7DC9-0EE6355A1FD1}"/>
              </a:ext>
            </a:extLst>
          </p:cNvPr>
          <p:cNvSpPr/>
          <p:nvPr/>
        </p:nvSpPr>
        <p:spPr>
          <a:xfrm>
            <a:off x="3410179" y="3657600"/>
            <a:ext cx="301752" cy="301752"/>
          </a:xfrm>
          <a:prstGeom prst="rect">
            <a:avLst/>
          </a:prstGeom>
          <a:solidFill>
            <a:schemeClr val="accent5">
              <a:lumMod val="50000"/>
            </a:schemeClr>
          </a:solidFill>
          <a:ln/>
        </p:spPr>
        <p:txBody>
          <a:bodyPr/>
          <a:lstStyle/>
          <a:p>
            <a:endParaRPr lang="de-DE" noProof="0" dirty="0"/>
          </a:p>
        </p:txBody>
      </p:sp>
      <p:sp>
        <p:nvSpPr>
          <p:cNvPr id="169" name="Shape 64">
            <a:extLst>
              <a:ext uri="{FF2B5EF4-FFF2-40B4-BE49-F238E27FC236}">
                <a16:creationId xmlns:a16="http://schemas.microsoft.com/office/drawing/2014/main" id="{27BC325B-A9F4-C179-C165-E30A56EFCD04}"/>
              </a:ext>
            </a:extLst>
          </p:cNvPr>
          <p:cNvSpPr/>
          <p:nvPr/>
        </p:nvSpPr>
        <p:spPr>
          <a:xfrm>
            <a:off x="3757651" y="3657600"/>
            <a:ext cx="301752" cy="301752"/>
          </a:xfrm>
          <a:prstGeom prst="rect">
            <a:avLst/>
          </a:prstGeom>
          <a:solidFill>
            <a:schemeClr val="accent5">
              <a:lumMod val="50000"/>
            </a:schemeClr>
          </a:solidFill>
          <a:ln/>
        </p:spPr>
        <p:txBody>
          <a:bodyPr/>
          <a:lstStyle/>
          <a:p>
            <a:endParaRPr lang="de-DE" noProof="0" dirty="0"/>
          </a:p>
        </p:txBody>
      </p:sp>
      <p:sp>
        <p:nvSpPr>
          <p:cNvPr id="170" name="Shape 2">
            <a:extLst>
              <a:ext uri="{FF2B5EF4-FFF2-40B4-BE49-F238E27FC236}">
                <a16:creationId xmlns:a16="http://schemas.microsoft.com/office/drawing/2014/main" id="{A64ACE0F-FD34-9839-9277-8EE93DDDE9DA}"/>
              </a:ext>
            </a:extLst>
          </p:cNvPr>
          <p:cNvSpPr/>
          <p:nvPr/>
        </p:nvSpPr>
        <p:spPr>
          <a:xfrm>
            <a:off x="1672819" y="1229215"/>
            <a:ext cx="301752" cy="301752"/>
          </a:xfrm>
          <a:prstGeom prst="rect">
            <a:avLst/>
          </a:prstGeom>
          <a:solidFill>
            <a:schemeClr val="accent5">
              <a:lumMod val="50000"/>
            </a:schemeClr>
          </a:solidFill>
          <a:ln/>
        </p:spPr>
        <p:txBody>
          <a:bodyPr/>
          <a:lstStyle/>
          <a:p>
            <a:endParaRPr lang="de-DE" noProof="0" dirty="0"/>
          </a:p>
        </p:txBody>
      </p:sp>
      <p:sp>
        <p:nvSpPr>
          <p:cNvPr id="171" name="Shape 3">
            <a:extLst>
              <a:ext uri="{FF2B5EF4-FFF2-40B4-BE49-F238E27FC236}">
                <a16:creationId xmlns:a16="http://schemas.microsoft.com/office/drawing/2014/main" id="{2E553704-8C8B-9398-6487-8378AB3C3C14}"/>
              </a:ext>
            </a:extLst>
          </p:cNvPr>
          <p:cNvSpPr/>
          <p:nvPr/>
        </p:nvSpPr>
        <p:spPr>
          <a:xfrm>
            <a:off x="2020291" y="1229215"/>
            <a:ext cx="301752" cy="301752"/>
          </a:xfrm>
          <a:prstGeom prst="rect">
            <a:avLst/>
          </a:prstGeom>
          <a:solidFill>
            <a:schemeClr val="accent5">
              <a:lumMod val="50000"/>
            </a:schemeClr>
          </a:solidFill>
          <a:ln/>
        </p:spPr>
        <p:txBody>
          <a:bodyPr/>
          <a:lstStyle/>
          <a:p>
            <a:endParaRPr lang="de-DE" noProof="0" dirty="0"/>
          </a:p>
        </p:txBody>
      </p:sp>
      <p:sp>
        <p:nvSpPr>
          <p:cNvPr id="172" name="Shape 4">
            <a:extLst>
              <a:ext uri="{FF2B5EF4-FFF2-40B4-BE49-F238E27FC236}">
                <a16:creationId xmlns:a16="http://schemas.microsoft.com/office/drawing/2014/main" id="{97B06BF4-CAB3-1EC0-E3BB-ECAAEE89913D}"/>
              </a:ext>
            </a:extLst>
          </p:cNvPr>
          <p:cNvSpPr/>
          <p:nvPr/>
        </p:nvSpPr>
        <p:spPr>
          <a:xfrm>
            <a:off x="2367763" y="1229215"/>
            <a:ext cx="301752" cy="301752"/>
          </a:xfrm>
          <a:prstGeom prst="rect">
            <a:avLst/>
          </a:prstGeom>
          <a:solidFill>
            <a:schemeClr val="accent5">
              <a:lumMod val="50000"/>
            </a:schemeClr>
          </a:solidFill>
          <a:ln/>
        </p:spPr>
        <p:txBody>
          <a:bodyPr/>
          <a:lstStyle/>
          <a:p>
            <a:endParaRPr lang="de-DE" noProof="0" dirty="0"/>
          </a:p>
        </p:txBody>
      </p:sp>
      <p:sp>
        <p:nvSpPr>
          <p:cNvPr id="173" name="Shape 5">
            <a:extLst>
              <a:ext uri="{FF2B5EF4-FFF2-40B4-BE49-F238E27FC236}">
                <a16:creationId xmlns:a16="http://schemas.microsoft.com/office/drawing/2014/main" id="{ECFDD34D-D702-347B-7FE1-0DF20572090C}"/>
              </a:ext>
            </a:extLst>
          </p:cNvPr>
          <p:cNvSpPr/>
          <p:nvPr/>
        </p:nvSpPr>
        <p:spPr>
          <a:xfrm>
            <a:off x="2715235" y="1229215"/>
            <a:ext cx="301752" cy="301752"/>
          </a:xfrm>
          <a:prstGeom prst="rect">
            <a:avLst/>
          </a:prstGeom>
          <a:solidFill>
            <a:schemeClr val="accent5">
              <a:lumMod val="50000"/>
            </a:schemeClr>
          </a:solidFill>
          <a:ln/>
        </p:spPr>
        <p:txBody>
          <a:bodyPr/>
          <a:lstStyle/>
          <a:p>
            <a:endParaRPr lang="de-DE" noProof="0" dirty="0"/>
          </a:p>
        </p:txBody>
      </p:sp>
      <p:sp>
        <p:nvSpPr>
          <p:cNvPr id="174" name="Shape 6">
            <a:extLst>
              <a:ext uri="{FF2B5EF4-FFF2-40B4-BE49-F238E27FC236}">
                <a16:creationId xmlns:a16="http://schemas.microsoft.com/office/drawing/2014/main" id="{FDB09142-31A7-8168-1EB7-B858C553EAC8}"/>
              </a:ext>
            </a:extLst>
          </p:cNvPr>
          <p:cNvSpPr/>
          <p:nvPr/>
        </p:nvSpPr>
        <p:spPr>
          <a:xfrm>
            <a:off x="3062707" y="1229215"/>
            <a:ext cx="301752" cy="301752"/>
          </a:xfrm>
          <a:prstGeom prst="rect">
            <a:avLst/>
          </a:prstGeom>
          <a:solidFill>
            <a:schemeClr val="accent5">
              <a:lumMod val="50000"/>
            </a:schemeClr>
          </a:solidFill>
          <a:ln/>
        </p:spPr>
        <p:txBody>
          <a:bodyPr/>
          <a:lstStyle/>
          <a:p>
            <a:endParaRPr lang="de-DE" noProof="0" dirty="0"/>
          </a:p>
        </p:txBody>
      </p:sp>
      <p:sp>
        <p:nvSpPr>
          <p:cNvPr id="175" name="Shape 7">
            <a:extLst>
              <a:ext uri="{FF2B5EF4-FFF2-40B4-BE49-F238E27FC236}">
                <a16:creationId xmlns:a16="http://schemas.microsoft.com/office/drawing/2014/main" id="{C9E70550-ECF3-58C7-619B-2C33E7A9EE9B}"/>
              </a:ext>
            </a:extLst>
          </p:cNvPr>
          <p:cNvSpPr/>
          <p:nvPr/>
        </p:nvSpPr>
        <p:spPr>
          <a:xfrm>
            <a:off x="3410179" y="1229215"/>
            <a:ext cx="301752" cy="301752"/>
          </a:xfrm>
          <a:prstGeom prst="rect">
            <a:avLst/>
          </a:prstGeom>
          <a:solidFill>
            <a:schemeClr val="accent5">
              <a:lumMod val="50000"/>
            </a:schemeClr>
          </a:solidFill>
          <a:ln/>
        </p:spPr>
        <p:txBody>
          <a:bodyPr/>
          <a:lstStyle/>
          <a:p>
            <a:endParaRPr lang="de-DE" noProof="0" dirty="0"/>
          </a:p>
        </p:txBody>
      </p:sp>
      <p:sp>
        <p:nvSpPr>
          <p:cNvPr id="176" name="Shape 8">
            <a:extLst>
              <a:ext uri="{FF2B5EF4-FFF2-40B4-BE49-F238E27FC236}">
                <a16:creationId xmlns:a16="http://schemas.microsoft.com/office/drawing/2014/main" id="{3E8702A4-1D55-EA48-DC06-CC2B222472EE}"/>
              </a:ext>
            </a:extLst>
          </p:cNvPr>
          <p:cNvSpPr/>
          <p:nvPr/>
        </p:nvSpPr>
        <p:spPr>
          <a:xfrm>
            <a:off x="3757651" y="1229215"/>
            <a:ext cx="301752" cy="301752"/>
          </a:xfrm>
          <a:prstGeom prst="rect">
            <a:avLst/>
          </a:prstGeom>
          <a:solidFill>
            <a:schemeClr val="accent5">
              <a:lumMod val="50000"/>
            </a:schemeClr>
          </a:solidFill>
          <a:ln/>
        </p:spPr>
        <p:txBody>
          <a:bodyPr/>
          <a:lstStyle/>
          <a:p>
            <a:endParaRPr lang="de-DE" noProof="0" dirty="0"/>
          </a:p>
        </p:txBody>
      </p:sp>
      <p:sp>
        <p:nvSpPr>
          <p:cNvPr id="177" name="Shape 10">
            <a:extLst>
              <a:ext uri="{FF2B5EF4-FFF2-40B4-BE49-F238E27FC236}">
                <a16:creationId xmlns:a16="http://schemas.microsoft.com/office/drawing/2014/main" id="{0461FBA2-F0EA-E7D8-5676-A21659526186}"/>
              </a:ext>
            </a:extLst>
          </p:cNvPr>
          <p:cNvSpPr/>
          <p:nvPr/>
        </p:nvSpPr>
        <p:spPr>
          <a:xfrm>
            <a:off x="1672819" y="1576687"/>
            <a:ext cx="301752" cy="301752"/>
          </a:xfrm>
          <a:prstGeom prst="rect">
            <a:avLst/>
          </a:prstGeom>
          <a:solidFill>
            <a:schemeClr val="accent5">
              <a:lumMod val="50000"/>
            </a:schemeClr>
          </a:solidFill>
          <a:ln/>
        </p:spPr>
        <p:txBody>
          <a:bodyPr/>
          <a:lstStyle/>
          <a:p>
            <a:endParaRPr lang="de-DE" noProof="0" dirty="0"/>
          </a:p>
        </p:txBody>
      </p:sp>
      <p:sp>
        <p:nvSpPr>
          <p:cNvPr id="178" name="Shape 15">
            <a:extLst>
              <a:ext uri="{FF2B5EF4-FFF2-40B4-BE49-F238E27FC236}">
                <a16:creationId xmlns:a16="http://schemas.microsoft.com/office/drawing/2014/main" id="{0469083A-364E-6D8C-923E-A143CF2E10F1}"/>
              </a:ext>
            </a:extLst>
          </p:cNvPr>
          <p:cNvSpPr/>
          <p:nvPr/>
        </p:nvSpPr>
        <p:spPr>
          <a:xfrm>
            <a:off x="3410179" y="1576687"/>
            <a:ext cx="301752" cy="301752"/>
          </a:xfrm>
          <a:prstGeom prst="rect">
            <a:avLst/>
          </a:prstGeom>
          <a:solidFill>
            <a:schemeClr val="accent4">
              <a:lumMod val="40000"/>
              <a:lumOff val="60000"/>
            </a:schemeClr>
          </a:solidFill>
          <a:ln/>
        </p:spPr>
        <p:txBody>
          <a:bodyPr/>
          <a:lstStyle/>
          <a:p>
            <a:endParaRPr lang="de-DE" noProof="0" dirty="0"/>
          </a:p>
        </p:txBody>
      </p:sp>
      <p:sp>
        <p:nvSpPr>
          <p:cNvPr id="179" name="Shape 16">
            <a:extLst>
              <a:ext uri="{FF2B5EF4-FFF2-40B4-BE49-F238E27FC236}">
                <a16:creationId xmlns:a16="http://schemas.microsoft.com/office/drawing/2014/main" id="{9744C123-88C7-7F70-BB20-38D84DD97390}"/>
              </a:ext>
            </a:extLst>
          </p:cNvPr>
          <p:cNvSpPr/>
          <p:nvPr/>
        </p:nvSpPr>
        <p:spPr>
          <a:xfrm>
            <a:off x="3757651" y="1576687"/>
            <a:ext cx="301752" cy="301752"/>
          </a:xfrm>
          <a:prstGeom prst="rect">
            <a:avLst/>
          </a:prstGeom>
          <a:solidFill>
            <a:schemeClr val="accent5">
              <a:lumMod val="50000"/>
            </a:schemeClr>
          </a:solidFill>
          <a:ln/>
        </p:spPr>
        <p:txBody>
          <a:bodyPr/>
          <a:lstStyle/>
          <a:p>
            <a:endParaRPr lang="de-DE" noProof="0" dirty="0"/>
          </a:p>
        </p:txBody>
      </p:sp>
      <p:sp>
        <p:nvSpPr>
          <p:cNvPr id="180" name="Shape 24">
            <a:extLst>
              <a:ext uri="{FF2B5EF4-FFF2-40B4-BE49-F238E27FC236}">
                <a16:creationId xmlns:a16="http://schemas.microsoft.com/office/drawing/2014/main" id="{C0251E5A-AF0B-F26D-5A48-8C2584F07EEA}"/>
              </a:ext>
            </a:extLst>
          </p:cNvPr>
          <p:cNvSpPr/>
          <p:nvPr/>
        </p:nvSpPr>
        <p:spPr>
          <a:xfrm>
            <a:off x="3757651" y="1924159"/>
            <a:ext cx="301752" cy="301752"/>
          </a:xfrm>
          <a:prstGeom prst="rect">
            <a:avLst/>
          </a:prstGeom>
          <a:solidFill>
            <a:schemeClr val="accent5">
              <a:lumMod val="50000"/>
            </a:schemeClr>
          </a:solidFill>
          <a:ln/>
        </p:spPr>
        <p:txBody>
          <a:bodyPr/>
          <a:lstStyle/>
          <a:p>
            <a:endParaRPr lang="de-DE" noProof="0" dirty="0"/>
          </a:p>
        </p:txBody>
      </p:sp>
      <p:sp>
        <p:nvSpPr>
          <p:cNvPr id="181" name="Shape 32">
            <a:extLst>
              <a:ext uri="{FF2B5EF4-FFF2-40B4-BE49-F238E27FC236}">
                <a16:creationId xmlns:a16="http://schemas.microsoft.com/office/drawing/2014/main" id="{0A2B3E20-CE3C-B9E1-1FD9-2E9EB79A92DF}"/>
              </a:ext>
            </a:extLst>
          </p:cNvPr>
          <p:cNvSpPr/>
          <p:nvPr/>
        </p:nvSpPr>
        <p:spPr>
          <a:xfrm>
            <a:off x="3757651" y="2271631"/>
            <a:ext cx="301752" cy="301752"/>
          </a:xfrm>
          <a:prstGeom prst="rect">
            <a:avLst/>
          </a:prstGeom>
          <a:solidFill>
            <a:schemeClr val="accent6">
              <a:lumMod val="40000"/>
              <a:lumOff val="60000"/>
            </a:schemeClr>
          </a:solidFill>
          <a:ln/>
        </p:spPr>
        <p:txBody>
          <a:bodyPr/>
          <a:lstStyle/>
          <a:p>
            <a:endParaRPr lang="de-DE" noProof="0" dirty="0"/>
          </a:p>
        </p:txBody>
      </p:sp>
      <p:pic>
        <p:nvPicPr>
          <p:cNvPr id="186" name="Grafik 185">
            <a:extLst>
              <a:ext uri="{FF2B5EF4-FFF2-40B4-BE49-F238E27FC236}">
                <a16:creationId xmlns:a16="http://schemas.microsoft.com/office/drawing/2014/main" id="{A447023D-0787-D346-8AF1-1968436732FB}"/>
              </a:ext>
            </a:extLst>
          </p:cNvPr>
          <p:cNvPicPr>
            <a:picLocks noChangeAspect="1"/>
          </p:cNvPicPr>
          <p:nvPr/>
        </p:nvPicPr>
        <p:blipFill>
          <a:blip r:embed="rId5"/>
          <a:srcRect t="5654" b="11377"/>
          <a:stretch>
            <a:fillRect/>
          </a:stretch>
        </p:blipFill>
        <p:spPr>
          <a:xfrm>
            <a:off x="7935773" y="18172779"/>
            <a:ext cx="5512611" cy="9902639"/>
          </a:xfrm>
          <a:prstGeom prst="roundRect">
            <a:avLst>
              <a:gd name="adj" fmla="val 1645"/>
            </a:avLst>
          </a:prstGeom>
          <a:solidFill>
            <a:srgbClr val="FFFFFF">
              <a:shade val="85000"/>
            </a:srgbClr>
          </a:solidFill>
          <a:ln w="6350" cap="sq">
            <a:solidFill>
              <a:srgbClr val="00B0F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Grafik 5">
            <a:extLst>
              <a:ext uri="{FF2B5EF4-FFF2-40B4-BE49-F238E27FC236}">
                <a16:creationId xmlns:a16="http://schemas.microsoft.com/office/drawing/2014/main" id="{38228069-E987-F4E5-17B9-82A3EF08E35E}"/>
              </a:ext>
            </a:extLst>
          </p:cNvPr>
          <p:cNvPicPr>
            <a:picLocks noChangeAspect="1"/>
          </p:cNvPicPr>
          <p:nvPr/>
        </p:nvPicPr>
        <p:blipFill>
          <a:blip r:embed="rId6"/>
          <a:srcRect/>
          <a:stretch/>
        </p:blipFill>
        <p:spPr>
          <a:xfrm>
            <a:off x="6907340" y="4480560"/>
            <a:ext cx="7569479" cy="3232798"/>
          </a:xfrm>
          <a:prstGeom prst="rect">
            <a:avLst/>
          </a:prstGeom>
        </p:spPr>
      </p:pic>
      <p:pic>
        <p:nvPicPr>
          <p:cNvPr id="14" name="Grafik 13">
            <a:extLst>
              <a:ext uri="{FF2B5EF4-FFF2-40B4-BE49-F238E27FC236}">
                <a16:creationId xmlns:a16="http://schemas.microsoft.com/office/drawing/2014/main" id="{5BABA8DD-22E5-77F4-230D-69700874520E}"/>
              </a:ext>
            </a:extLst>
          </p:cNvPr>
          <p:cNvPicPr>
            <a:picLocks noChangeAspect="1"/>
          </p:cNvPicPr>
          <p:nvPr/>
        </p:nvPicPr>
        <p:blipFill>
          <a:blip r:embed="rId7"/>
          <a:stretch>
            <a:fillRect/>
          </a:stretch>
        </p:blipFill>
        <p:spPr>
          <a:xfrm>
            <a:off x="17547771" y="1288999"/>
            <a:ext cx="2780386" cy="2780386"/>
          </a:xfrm>
          <a:prstGeom prst="rect">
            <a:avLst/>
          </a:prstGeom>
        </p:spPr>
      </p:pic>
      <p:sp>
        <p:nvSpPr>
          <p:cNvPr id="18" name="Textfeld 17">
            <a:extLst>
              <a:ext uri="{FF2B5EF4-FFF2-40B4-BE49-F238E27FC236}">
                <a16:creationId xmlns:a16="http://schemas.microsoft.com/office/drawing/2014/main" id="{E7D7F7FA-CFEB-6F58-C568-3026927516C6}"/>
              </a:ext>
            </a:extLst>
          </p:cNvPr>
          <p:cNvSpPr txBox="1"/>
          <p:nvPr/>
        </p:nvSpPr>
        <p:spPr>
          <a:xfrm>
            <a:off x="17547771" y="979903"/>
            <a:ext cx="3711207" cy="338554"/>
          </a:xfrm>
          <a:prstGeom prst="rect">
            <a:avLst/>
          </a:prstGeom>
          <a:noFill/>
        </p:spPr>
        <p:txBody>
          <a:bodyPr wrap="square" rtlCol="0">
            <a:spAutoFit/>
          </a:bodyPr>
          <a:lstStyle/>
          <a:p>
            <a:r>
              <a:rPr lang="de-DE" sz="1600" b="1" dirty="0">
                <a:solidFill>
                  <a:schemeClr val="bg1"/>
                </a:solidFill>
                <a:latin typeface="Arial" panose="020B0604020202020204" pitchFamily="34" charset="0"/>
                <a:cs typeface="Arial" panose="020B0604020202020204" pitchFamily="34" charset="0"/>
              </a:rPr>
              <a:t>Live-Belegung Etage 1B.1: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890</Words>
  <Application>Microsoft Office PowerPoint</Application>
  <PresentationFormat>Benutzerdefiniert</PresentationFormat>
  <Paragraphs>65</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Calibri</vt:lpstr>
      <vt:lpstr>Courier New</vt:lpstr>
      <vt:lpstr>Times New Roman</vt:lpstr>
      <vt:lpstr>Office Theme</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Philippe Simons</cp:lastModifiedBy>
  <cp:revision>6</cp:revision>
  <dcterms:created xsi:type="dcterms:W3CDTF">2026-08-31T16:42:38Z</dcterms:created>
  <dcterms:modified xsi:type="dcterms:W3CDTF">2026-09-03T09:25:55Z</dcterms:modified>
</cp:coreProperties>
</file>